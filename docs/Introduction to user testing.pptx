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package/2006/relationships/metadata/extended-properties" Target="docProps/app0.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3"/>
  </p:notesMasterIdLst>
  <p:sldIdLst>
    <p:sldId id="309" r:id="rId2"/>
    <p:sldId id="277" r:id="rId3"/>
    <p:sldId id="310" r:id="rId4"/>
    <p:sldId id="296" r:id="rId5"/>
    <p:sldId id="315" r:id="rId6"/>
    <p:sldId id="318" r:id="rId7"/>
    <p:sldId id="312" r:id="rId8"/>
    <p:sldId id="297" r:id="rId9"/>
    <p:sldId id="302" r:id="rId10"/>
    <p:sldId id="303" r:id="rId11"/>
    <p:sldId id="304" r:id="rId12"/>
    <p:sldId id="273" r:id="rId13"/>
    <p:sldId id="272" r:id="rId14"/>
    <p:sldId id="278" r:id="rId15"/>
    <p:sldId id="271" r:id="rId16"/>
    <p:sldId id="274" r:id="rId17"/>
    <p:sldId id="276" r:id="rId18"/>
    <p:sldId id="256" r:id="rId19"/>
    <p:sldId id="257" r:id="rId20"/>
    <p:sldId id="258" r:id="rId21"/>
    <p:sldId id="259" r:id="rId22"/>
    <p:sldId id="261" r:id="rId23"/>
    <p:sldId id="313" r:id="rId24"/>
    <p:sldId id="327" r:id="rId25"/>
    <p:sldId id="263" r:id="rId26"/>
    <p:sldId id="264" r:id="rId27"/>
    <p:sldId id="265" r:id="rId28"/>
    <p:sldId id="266" r:id="rId29"/>
    <p:sldId id="267" r:id="rId30"/>
    <p:sldId id="268" r:id="rId31"/>
    <p:sldId id="328" r:id="rId3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317" autoAdjust="0"/>
    <p:restoredTop sz="94694" autoAdjust="0"/>
  </p:normalViewPr>
  <p:slideViewPr>
    <p:cSldViewPr snapToGrid="0" snapToObjects="1">
      <p:cViewPr varScale="1">
        <p:scale>
          <a:sx n="79" d="100"/>
          <a:sy n="79" d="100"/>
        </p:scale>
        <p:origin x="208" y="1432"/>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9/8/26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BDFEC3-8487-43E8-A154-7C12CBC1FFF2}" type="slidenum">
              <a:rPr lang="en-US" smtClean="0"/>
              <a:t>9</a:t>
            </a:fld>
            <a:endParaRPr lang="en-US"/>
          </a:p>
        </p:txBody>
      </p:sp>
    </p:spTree>
    <p:extLst>
      <p:ext uri="{BB962C8B-B14F-4D97-AF65-F5344CB8AC3E}">
        <p14:creationId xmlns:p14="http://schemas.microsoft.com/office/powerpoint/2010/main" val="927694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Green source rows form the illustrative REF subset. CF starts as a copy. The CF target, eligibility filters and sampling weights determine which people and trips change.</a:t>
            </a:r>
          </a:p>
          <a:p>
            <a:pPr marL="0" lvl="0" indent="0">
              <a:buNone/>
            </a:pPr>
            <a:endParaRPr dirty="0"/>
          </a:p>
          <a:p>
            <a:pPr marL="0" lvl="0" indent="0">
              <a:buNone/>
            </a:pPr>
            <a:r>
              <a:rPr dirty="0"/>
              <a:t>Person A illustrates a mode switch. C receives an induced trip. D remains unchanged. E illustrates recruitment of an eligible existing source non-user from outside REF. E is not a new resident or a duplicated person. A person can use more than one mode, while an already shifted trip cannot shift again.</a:t>
            </a:r>
          </a:p>
          <a:p>
            <a:pPr marL="0" lvl="0" indent="0">
              <a:buNone/>
            </a:pPr>
            <a:endParaRPr dirty="0"/>
          </a:p>
          <a:p>
            <a:pPr marL="0" lvl="0" indent="0">
              <a:buNone/>
            </a:pPr>
            <a:r>
              <a:rPr dirty="0"/>
              <a:t>The lower arrow represents the wider geographic source as a pool of eligible people and donor trip patterns. Reusing a donor trip pattern may support a fixed trip target without changing fixed user counts. Lower CF targets can reduce active-mode use instead. The next slide explains priorities and fallbacks. The diagram is schematic, not a quantitative example.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extLst>
      <p:ext uri="{BB962C8B-B14F-4D97-AF65-F5344CB8AC3E}">
        <p14:creationId xmlns:p14="http://schemas.microsoft.com/office/powerpoint/2010/main" val="975979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MIAMA estimates the health implications of a change in active travel. The source population supplies both reference information and examples of existing travel </a:t>
            </a:r>
            <a:r>
              <a:rPr dirty="0" err="1"/>
              <a:t>behaviour</a:t>
            </a:r>
            <a:r>
              <a:rPr dirty="0"/>
              <a:t> for sampling.</a:t>
            </a:r>
          </a:p>
          <a:p>
            <a:pPr marL="0" lvl="0" indent="0">
              <a:buNone/>
            </a:pPr>
            <a:endParaRPr dirty="0"/>
          </a:p>
          <a:p>
            <a:pPr marL="0" lvl="0" indent="0">
              <a:buNone/>
            </a:pPr>
            <a:r>
              <a:rPr dirty="0"/>
              <a:t>Synthetic people represent population patterns. They are not identified residents or a list of actual scheme participants. People and trips are linked, so the app can estimate who receives additional physical activity.</a:t>
            </a:r>
          </a:p>
          <a:p>
            <a:pPr marL="0" lvl="0" indent="0">
              <a:buNone/>
            </a:pPr>
            <a:endParaRPr dirty="0"/>
          </a:p>
          <a:p>
            <a:pPr marL="0" lvl="0" indent="0">
              <a:buNone/>
            </a:pPr>
            <a:r>
              <a:rPr dirty="0"/>
              <a:t>The geographic source and the population assessed by a particular scheme are distinct. For a demonstration using the Leeds sample profile, explain that it contains 5,000 synthetic people and is a testing dataset, not the full Leeds population. Availability depends on the deployed data profile.</a:t>
            </a:r>
          </a:p>
          <a:p>
            <a:pPr marL="0" lvl="0" indent="0">
              <a:buNone/>
            </a:pPr>
            <a:endParaRPr dirty="0"/>
          </a:p>
          <a:p>
            <a:pPr marL="0" lvl="0" indent="0">
              <a:buNone/>
            </a:pPr>
            <a:r>
              <a:rPr dirty="0"/>
              <a:t>Sources: docs/</a:t>
            </a:r>
            <a:r>
              <a:rPr dirty="0" err="1"/>
              <a:t>methodology.qmd</a:t>
            </a:r>
            <a:r>
              <a:rPr dirty="0"/>
              <a:t>, Reference synthetic population; </a:t>
            </a:r>
            <a:r>
              <a:rPr dirty="0" err="1"/>
              <a:t>README.md</a:t>
            </a:r>
            <a:r>
              <a:rPr dirty="0"/>
              <a:t>, Tab 1 and runtime data profiles.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Reference means the situation used for comparison. Counterfactual means the situation expected with the intervention. These are two scenarios, not necessarily two different dates.</a:t>
            </a:r>
          </a:p>
          <a:p>
            <a:pPr marL="0" lvl="0" indent="0">
              <a:buNone/>
            </a:pPr>
            <a:endParaRPr dirty="0"/>
          </a:p>
          <a:p>
            <a:pPr marL="0" lvl="0" indent="0">
              <a:buNone/>
            </a:pPr>
            <a:r>
              <a:rPr dirty="0"/>
              <a:t>Choose one of the four input routes. Distance and duration are alternatives within one route. Check whether inputs are totals or per person and check the timeframe. Mode shares require a denominator: a percentage alone does not describe the size of a scheme.</a:t>
            </a:r>
          </a:p>
          <a:p>
            <a:pPr marL="0" lvl="0" indent="0">
              <a:buNone/>
            </a:pPr>
            <a:endParaRPr dirty="0"/>
          </a:p>
          <a:p>
            <a:pPr marL="0" lvl="0" indent="0">
              <a:buNone/>
            </a:pPr>
            <a:r>
              <a:rPr dirty="0"/>
              <a:t>For example, enter 15,000 reference walking trips and 20,000 intervention walking trips per week. Those are illustrative inputs, not a prediction or observed result. The app estimates the people associated with that travel. With user inputs, it estimates corresponding trips instead.</a:t>
            </a:r>
          </a:p>
          <a:p>
            <a:pPr marL="0" lvl="0" indent="0">
              <a:buNone/>
            </a:pPr>
            <a:endParaRPr dirty="0"/>
          </a:p>
          <a:p>
            <a:pPr marL="0" lvl="0" indent="0">
              <a:buNone/>
            </a:pPr>
            <a:r>
              <a:rPr dirty="0"/>
              <a:t>Basic mode uses assumptions to complete the assessment without requiring the advanced refinement steps. Selected modes may include walking, cycling, e-biking and walking associated with public transport.</a:t>
            </a:r>
          </a:p>
          <a:p>
            <a:pPr marL="0" lvl="0" indent="0">
              <a:buNone/>
            </a:pPr>
            <a:endParaRPr dirty="0"/>
          </a:p>
          <a:p>
            <a:pPr marL="0" lvl="0" indent="0">
              <a:buNone/>
            </a:pPr>
            <a:r>
              <a:rPr dirty="0"/>
              <a:t>The initial values are suggestions, not estimates of your intervention. REF describes the existing active travel you want to assess. CF describes the expected total with the intervention, not just the increase. In the example, enter 20,000 as CF, not 5,000. Source patterns and assumptions fill in information you have not supplied, such as trips per user.</a:t>
            </a:r>
          </a:p>
          <a:p>
            <a:pPr marL="0" lvl="0" indent="0">
              <a:buNone/>
            </a:pPr>
            <a:endParaRPr dirty="0"/>
          </a:p>
          <a:p>
            <a:pPr marL="0" lvl="0" indent="0">
              <a:buNone/>
            </a:pPr>
            <a:r>
              <a:rPr dirty="0"/>
              <a:t>In the basic workflow, people who supply trips, distance/duration or mode shares can optionally specify the assessed population as additional information. Otherwise the app uses its population estimate. Basic users can then proceed to results without reviewing Tabs 3 and 4.</a:t>
            </a:r>
          </a:p>
          <a:p>
            <a:pPr marL="0" lvl="0" indent="0">
              <a:buNone/>
            </a:pPr>
            <a:endParaRPr dirty="0"/>
          </a:p>
          <a:p>
            <a:pPr marL="0" lvl="0" indent="0">
              <a:buNone/>
            </a:pPr>
            <a:r>
              <a:rPr dirty="0"/>
              <a:t>Sources: R/tab2_input_conversion.R; docs/</a:t>
            </a:r>
            <a:r>
              <a:rPr dirty="0" err="1"/>
              <a:t>methodology.qmd</a:t>
            </a:r>
            <a:r>
              <a:rPr dirty="0"/>
              <a:t>, Basic specification and Continuity from Tab 2 to Tabs 3 and 4.</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Basic population refinements change the assessed scope. Advanced distributions influence which people or trip patterns are more likely to be sampled. The distinction matters because the same number of additional trips can have different health effects depending on who receives the activity.</a:t>
            </a:r>
          </a:p>
          <a:p>
            <a:pPr marL="0" lvl="0" indent="0">
              <a:buNone/>
            </a:pPr>
            <a:endParaRPr dirty="0"/>
          </a:p>
          <a:p>
            <a:pPr marL="0" lvl="0" indent="0">
              <a:buNone/>
            </a:pPr>
            <a:r>
              <a:rPr dirty="0"/>
              <a:t>Explain these as two separate operations. Scope answers ‘how many people, and which categories are eligible?’ Distribution answers ‘among those eligible, who is more likely to be selected?’ Excluding an age or physical-activity category is a filter. Changing a preferred age, sex balance or activity distribution changes sampling weights. A weight is a relative selection preference, not a guarantee of an exact realized category count.</a:t>
            </a:r>
          </a:p>
          <a:p>
            <a:pPr marL="0" lvl="0" indent="0">
              <a:buNone/>
            </a:pPr>
            <a:endParaRPr dirty="0"/>
          </a:p>
          <a:p>
            <a:pPr marL="0" lvl="0" indent="0">
              <a:buNone/>
            </a:pPr>
            <a:r>
              <a:rPr dirty="0"/>
              <a:t>Tab 2 provides the starting values. If you supplied trips, population refinements should preserve those trip totals until you explicitly change them in Tab 4. If you supplied users, Tab 3 establishes the user numbers and Tab 4 refines trips within that population. Tab 4 should not infer a different population merely because trip counts change.</a:t>
            </a:r>
          </a:p>
          <a:p>
            <a:pPr marL="0" lvl="0" indent="0">
              <a:buNone/>
            </a:pPr>
            <a:endParaRPr dirty="0"/>
          </a:p>
          <a:p>
            <a:pPr marL="0" lvl="0" indent="0">
              <a:buNone/>
            </a:pPr>
            <a:r>
              <a:rPr dirty="0"/>
              <a:t>New users means people starting to use an active mode. Newly induced trips means additional trips that did not exist in the reference scenario. A current user can make a newly induced trip. A new user can switch an existing trip from another mode.</a:t>
            </a:r>
          </a:p>
          <a:p>
            <a:pPr marL="0" lvl="0" indent="0">
              <a:buNone/>
            </a:pPr>
            <a:endParaRPr dirty="0"/>
          </a:p>
          <a:p>
            <a:pPr marL="0" lvl="0" indent="0">
              <a:buNone/>
            </a:pPr>
            <a:r>
              <a:rPr dirty="0"/>
              <a:t>The model samples from eligible source people and trip patterns. A person may use several modes, but an already shifted trip cannot be shifted again to another mode. Defaults and eligibility rules can constrain what is feasible.</a:t>
            </a:r>
          </a:p>
          <a:p>
            <a:pPr marL="0" lvl="0" indent="0">
              <a:buNone/>
            </a:pPr>
            <a:endParaRPr dirty="0"/>
          </a:p>
          <a:p>
            <a:pPr marL="0" lvl="0" indent="0">
              <a:buNone/>
            </a:pPr>
            <a:r>
              <a:rPr dirty="0"/>
              <a:t>REF determines the starting scope and current mode users. CF specifies the desired situation after the change. For an explicit user-count example, REF = 100 cyclists and CF = 120 cyclists means retaining the current cyclists and recruiting 20 eligible source non-cyclists. The model can draw these from outside the assessed REF subset but within the retained geographic source. CF = 80 instead means selecting 20 current cyclists to stop that mode use, not deleting 20 residents.</a:t>
            </a:r>
          </a:p>
          <a:p>
            <a:pPr marL="0" lvl="0" indent="0">
              <a:buNone/>
            </a:pPr>
            <a:endParaRPr dirty="0"/>
          </a:p>
          <a:p>
            <a:pPr marL="0" lvl="0" indent="0">
              <a:buNone/>
            </a:pPr>
            <a:r>
              <a:rPr dirty="0"/>
              <a:t>When the input is trips rather than people, a rise in trips does not imply the same proportional rise in users. Existing users can make more trips. The current/new-user assumption helps allocate the additional travel when user counts have not been supplied explicitly. Explicit user counts take precedence over that assumption. Advanced age, sex and activity distributions influence sampling probabilities.</a:t>
            </a:r>
          </a:p>
          <a:p>
            <a:pPr marL="0" lvl="0" indent="0">
              <a:buNone/>
            </a:pPr>
            <a:endParaRPr dirty="0"/>
          </a:p>
          <a:p>
            <a:pPr marL="0" lvl="0" indent="0">
              <a:buNone/>
            </a:pPr>
            <a:r>
              <a:rPr dirty="0"/>
              <a:t>Sources: R/</a:t>
            </a:r>
            <a:r>
              <a:rPr dirty="0" err="1"/>
              <a:t>api_refinement_profile_defaults.R</a:t>
            </a:r>
            <a:r>
              <a:rPr dirty="0"/>
              <a:t>; R/</a:t>
            </a:r>
            <a:r>
              <a:rPr dirty="0" err="1"/>
              <a:t>counterfactual_data_apply_ui_values.R</a:t>
            </a:r>
            <a:r>
              <a:rPr dirty="0"/>
              <a:t>; docs/</a:t>
            </a:r>
            <a:r>
              <a:rPr dirty="0" err="1"/>
              <a:t>methodology.qmd</a:t>
            </a:r>
            <a:r>
              <a:rPr dirty="0"/>
              <a:t>, Continuity and Counterfactual sampling and redistribution.</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Travel becomes physical-activity exposure through active time and the intensity of the activity. The calculation accounts for existing physical activity, rather than treating every added minute as having the same health benefit for everyone.</a:t>
            </a:r>
          </a:p>
          <a:p>
            <a:pPr marL="0" lvl="0" indent="0">
              <a:buNone/>
            </a:pPr>
            <a:endParaRPr dirty="0"/>
          </a:p>
          <a:p>
            <a:pPr marL="0" lvl="0" indent="0">
              <a:buNone/>
            </a:pPr>
            <a:r>
              <a:rPr dirty="0"/>
              <a:t>Use the same scope-versus-distribution distinction as on Tab 3. Trip totals define how much travel is assessed. Eligibility rules determine which source trips can contribute; distance distributions and diversion assumptions guide selection among candidates. Source-mode diversion preferences may be implemented through mode-specific allocation as well as weights. Do not imply that every Tab 4 distribution is a hard exclusion rule or an exact quota. In particular, the legacy basic distance slider is not a fully operational trip-scope filter in HUB; the operational distance-distribution controls guide sampling instead.</a:t>
            </a:r>
          </a:p>
          <a:p>
            <a:pPr marL="0" lvl="0" indent="0">
              <a:buNone/>
            </a:pPr>
            <a:endParaRPr dirty="0"/>
          </a:p>
          <a:p>
            <a:pPr marL="0" lvl="0" indent="0">
              <a:buNone/>
            </a:pPr>
            <a:r>
              <a:rPr dirty="0"/>
              <a:t>For REF = 15,000 and CF = 20,000 walking trips per week, the requested net increase is 5,000. The model starts with REF and samples changes toward the CF target. Source-mode assumptions guide which existing trips switch. The induced-trip assumption determines the share added as new journeys. Current/new users and shifted/induced trips are distinct splits. One person may use multiple active modes, but a shifted trip is unavailable for a second shift.</a:t>
            </a:r>
          </a:p>
          <a:p>
            <a:pPr marL="0" lvl="0" indent="0">
              <a:buNone/>
            </a:pPr>
            <a:endParaRPr dirty="0"/>
          </a:p>
          <a:p>
            <a:pPr marL="0" lvl="0" indent="0">
              <a:buNone/>
            </a:pPr>
            <a:r>
              <a:rPr dirty="0"/>
              <a:t>People’s available trip patterns, sampling constraints and any explicit population targets govern allocation. Where the accepted user pool owns too few observed trips, donor-pattern sampling with replacement can support the trip target. That reuses a travel pattern; it does not permit the same existing trip to switch twice.</a:t>
            </a:r>
          </a:p>
          <a:p>
            <a:pPr marL="0" lvl="0" indent="0">
              <a:buNone/>
            </a:pPr>
            <a:endParaRPr dirty="0"/>
          </a:p>
          <a:p>
            <a:pPr marL="0" lvl="0" indent="0">
              <a:buNone/>
            </a:pPr>
            <a:r>
              <a:rPr dirty="0"/>
              <a:t>Trip inputs in Tab 2 remain authoritative until an explicit Tab 4 edit supersedes them. Tab 4 refinements should preserve the accepted Tab 3 person counts. The resulting trips per person can therefore change. Review both tables when testing this handoff.</a:t>
            </a:r>
          </a:p>
          <a:p>
            <a:pPr marL="0" lvl="0" indent="0">
              <a:buNone/>
            </a:pPr>
            <a:endParaRPr dirty="0"/>
          </a:p>
          <a:p>
            <a:pPr marL="0" lvl="0" indent="0">
              <a:buNone/>
            </a:pPr>
            <a:r>
              <a:rPr dirty="0"/>
              <a:t>HUB uses precomputed MIAMA-HM health trajectories and exposure-response lookup information. It does not rerun the entire health microsimulation for each click. The lookup varies by health-model strata and cycle. HALYs combine survival with adjustments for ill health.</a:t>
            </a:r>
          </a:p>
          <a:p>
            <a:pPr marL="0" lvl="0" indent="0">
              <a:buNone/>
            </a:pPr>
            <a:endParaRPr dirty="0"/>
          </a:p>
          <a:p>
            <a:pPr marL="0" lvl="0" indent="0">
              <a:buNone/>
            </a:pPr>
            <a:r>
              <a:rPr dirty="0"/>
              <a:t>The assessment period is configurable. Use the period shown in the app rather than promising a fixed number of years here. This is a model of expected health effects under the scenario assumptions, not a forecast of individual outcomes. These slides describe the physical-activity health pathway; they do not claim to include every transport benefit or harm.</a:t>
            </a:r>
          </a:p>
          <a:p>
            <a:pPr marL="0" lvl="0" indent="0">
              <a:buNone/>
            </a:pPr>
            <a:endParaRPr dirty="0"/>
          </a:p>
          <a:p>
            <a:pPr marL="0" lvl="0" indent="0">
              <a:buNone/>
            </a:pPr>
            <a:r>
              <a:rPr dirty="0"/>
              <a:t>Sources: R/</a:t>
            </a:r>
            <a:r>
              <a:rPr dirty="0" err="1"/>
              <a:t>counterfactual_data_apply_health_outcomes.R</a:t>
            </a:r>
            <a:r>
              <a:rPr dirty="0"/>
              <a:t>; docs/</a:t>
            </a:r>
            <a:r>
              <a:rPr dirty="0" err="1"/>
              <a:t>methodology.qmd</a:t>
            </a:r>
            <a:r>
              <a:rPr dirty="0"/>
              <a:t>, From physical activity to health trajectories and Health-adjusted life years.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REF inputs establish the starting scope. CF inputs specify a target situation, so the difference determines whether the model samples additions or reductions. CF initially copies REF. This is why two CF totals of 120 users represent different interventions when REF is 100 versus 50.</a:t>
            </a:r>
          </a:p>
          <a:p>
            <a:pPr marL="0" lvl="0" indent="0">
              <a:buNone/>
            </a:pPr>
            <a:endParaRPr dirty="0"/>
          </a:p>
          <a:p>
            <a:pPr marL="0" lvl="0" indent="0">
              <a:buNone/>
            </a:pPr>
            <a:r>
              <a:rPr dirty="0"/>
              <a:t>INPUT PRIORITY. Explicit user-count inputs take precedence over a default current/new-user percentage. For a trip-based Tab 2 route, the trip target remains binding through Tab 3 unless explicitly changed in Tab 4. Tab 3 determines the accepted person counts. Tab 4 may change trips per person but should not infer a new population. Later explicit Tab 4 trip counts supersede earlier estimated trip counts or trip targets derived from mode share or distance/duration. Otherwise the upstream input remains authoritative.</a:t>
            </a:r>
          </a:p>
          <a:p>
            <a:pPr marL="0" lvl="0" indent="0">
              <a:buNone/>
            </a:pPr>
            <a:endParaRPr dirty="0"/>
          </a:p>
          <a:p>
            <a:pPr marL="0" lvl="0" indent="0">
              <a:buNone/>
            </a:pPr>
            <a:r>
              <a:rPr dirty="0"/>
              <a:t>PEOPLE. To increase mode users, first select eligible baseline non-users already inside the assessed population. Recruit a shortfall from eligible non-users elsewhere in the retained geographic source. A person can use several modes. People are not duplicated to satisfy a user-count target. If too few eligible people exist in the full source, a revised target or category selection is needed. Fewer CF users means selecting current users to reduce or stop the mode, while retaining the people for health accounting.</a:t>
            </a:r>
          </a:p>
          <a:p>
            <a:pPr marL="0" lvl="0" indent="0">
              <a:buNone/>
            </a:pPr>
            <a:endParaRPr dirty="0"/>
          </a:p>
          <a:p>
            <a:pPr marL="0" lvl="0" indent="0">
              <a:buNone/>
            </a:pPr>
            <a:r>
              <a:rPr dirty="0"/>
              <a:t>TRIPS. To increase active trips, switch eligible existing trips according to the source-mode assumptions and add the induced share. Keep already-shifted trips unavailable for a second shift. If the fixed user pool owns too few observed trip patterns to meet a fixed trip target, sample geographic donor patterns with replacement and assign them to the fixed people. This creates modeled trip records, not duplicate people. A shortfall of switchable CF trips can become induced trips, changing the realized shifted/induced split. Reports retain these mechanism counts. Fewer active trips means switching eligible active trips away.</a:t>
            </a:r>
          </a:p>
          <a:p>
            <a:pPr marL="0" lvl="0" indent="0">
              <a:buNone/>
            </a:pPr>
            <a:endParaRPr dirty="0"/>
          </a:p>
          <a:p>
            <a:pPr marL="0" lvl="0" indent="0">
              <a:buNone/>
            </a:pPr>
            <a:r>
              <a:rPr dirty="0"/>
              <a:t>WEIGHTS AND FILTERS. When there are insufficient positive-weight candidates, the implementation can fill the unavoidable remainder uniformly from other eligible candidates. It does not thereby reintroduce an excluded category. Category selections can also trigger a warning and adjustment of stale submitted scope totals to eligible capacity. These are distinct from unconstrained replication or ignoring a filter.</a:t>
            </a:r>
          </a:p>
          <a:p>
            <a:pPr marL="0" lvl="0" indent="0">
              <a:buNone/>
            </a:pPr>
            <a:endParaRPr dirty="0"/>
          </a:p>
          <a:p>
            <a:pPr marL="0" lvl="0" indent="0">
              <a:buNone/>
            </a:pPr>
            <a:r>
              <a:rPr dirty="0"/>
              <a:t>ZERO REFERENCE. Zero REF activity with positive CF activity still needs people. HUB derives a person boundary from CF volume, with the geographic person pool as a fallback if a source rate is unavailable. Zero REF mode trips/users do not mean an empty geographic donor population.</a:t>
            </a:r>
          </a:p>
          <a:p>
            <a:pPr marL="0" lvl="0" indent="0">
              <a:buNone/>
            </a:pPr>
            <a:endParaRPr dirty="0"/>
          </a:p>
          <a:p>
            <a:pPr marL="0" lvl="0" indent="0">
              <a:buNone/>
            </a:pPr>
            <a:r>
              <a:rPr dirty="0"/>
              <a:t>Sources: </a:t>
            </a:r>
            <a:r>
              <a:rPr dirty="0" err="1"/>
              <a:t>README.md</a:t>
            </a:r>
            <a:r>
              <a:rPr dirty="0"/>
              <a:t>, Feasibility rules and sampling sources and What happens when a requested sample cannot be drawn; R/</a:t>
            </a:r>
            <a:r>
              <a:rPr dirty="0" err="1"/>
              <a:t>reference_data_apply_appraisal_scope.R</a:t>
            </a:r>
            <a:r>
              <a:rPr dirty="0"/>
              <a:t>; R/</a:t>
            </a:r>
            <a:r>
              <a:rPr dirty="0" err="1"/>
              <a:t>counterfactual_data_sampling_functions.R</a:t>
            </a:r>
            <a:r>
              <a:rPr dirty="0"/>
              <a:t>; R/</a:t>
            </a:r>
            <a:r>
              <a:rPr dirty="0" err="1"/>
              <a:t>counterfactual_data_apply_ui_values.R</a:t>
            </a:r>
            <a:r>
              <a:rPr dirty="0"/>
              <a:t>.</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Begin testing with a plausible scenario, then vary one input while keeping the others fixed. Check whether the population and trip tables remain understandable as you move through the app. Check that reference and intervention trip results reflect the intended scenario and any explicit refinements.</a:t>
            </a:r>
          </a:p>
          <a:p>
            <a:pPr marL="0" lvl="0" indent="0">
              <a:buNone/>
            </a:pPr>
            <a:endParaRPr dirty="0"/>
          </a:p>
          <a:p>
            <a:pPr marL="0" lvl="0" indent="0">
              <a:buNone/>
            </a:pPr>
            <a:r>
              <a:rPr dirty="0"/>
              <a:t>HALYs means health-adjusted life-years: a measure combining length of life with health during those years. Distinguish life-years gained from deaths prevented; they answer different questions. Disease-case totals are counts of outcomes and do not necessarily count distinct people.</a:t>
            </a:r>
          </a:p>
          <a:p>
            <a:pPr marL="0" lvl="0" indent="0">
              <a:buNone/>
            </a:pPr>
            <a:endParaRPr dirty="0"/>
          </a:p>
          <a:p>
            <a:pPr marL="0" lvl="0" indent="0">
              <a:buNone/>
            </a:pPr>
            <a:r>
              <a:rPr dirty="0"/>
              <a:t>The technical outcome difference is CF minus REF. For adverse outcomes, such as disease cases and deaths, a reduction is therefore negative. The app reverses the sign for ‘prevented’ results: REF minus CF, so benefits display as positive. For life-years and HALYs, gains use CF minus REF. Avoid describing all headline results as raw risk differences: they summarize expected events or years of life over the assessment period, with the configured population scaling.</a:t>
            </a:r>
          </a:p>
          <a:p>
            <a:pPr marL="0" lvl="0" indent="0">
              <a:buNone/>
            </a:pPr>
            <a:endParaRPr dirty="0"/>
          </a:p>
          <a:p>
            <a:pPr marL="0" lvl="0" indent="0">
              <a:buNone/>
            </a:pPr>
            <a:r>
              <a:rPr dirty="0"/>
              <a:t>For feedback, record the data profile and geography, selected modes, input route, reference and counterfactual inputs, refinements, and the unexpected output. Include a screenshot or export where useful. Please flag apparently implausible outputs even when the app does not show an error.</a:t>
            </a:r>
          </a:p>
          <a:p>
            <a:pPr marL="0" lvl="0" indent="0">
              <a:buNone/>
            </a:pPr>
            <a:endParaRPr dirty="0"/>
          </a:p>
          <a:p>
            <a:pPr marL="0" lvl="0" indent="0">
              <a:buNone/>
            </a:pPr>
            <a:r>
              <a:rPr dirty="0"/>
              <a:t>Sampling can introduce variation. Small effects and rounded headline values need careful interpretation. Outputs are conditional model estimates and do not themselves quantify all sources of uncertainty.</a:t>
            </a:r>
          </a:p>
          <a:p>
            <a:pPr marL="0" lvl="0" indent="0">
              <a:buNone/>
            </a:pPr>
            <a:endParaRPr dirty="0"/>
          </a:p>
          <a:p>
            <a:pPr marL="0" lvl="0" indent="0">
              <a:buNone/>
            </a:pPr>
            <a:r>
              <a:rPr dirty="0"/>
              <a:t>Sources: R/</a:t>
            </a:r>
            <a:r>
              <a:rPr dirty="0" err="1"/>
              <a:t>results_data_prepare.R</a:t>
            </a:r>
            <a:r>
              <a:rPr dirty="0"/>
              <a:t>; </a:t>
            </a:r>
            <a:r>
              <a:rPr dirty="0" err="1"/>
              <a:t>README.md</a:t>
            </a:r>
            <a:r>
              <a:rPr dirty="0"/>
              <a:t>, Tab 5: Present and export results; docs/</a:t>
            </a:r>
            <a:r>
              <a:rPr dirty="0" err="1"/>
              <a:t>methodology.qmd</a:t>
            </a:r>
            <a:r>
              <a:rPr dirty="0"/>
              <a:t>, Validation, uncertainty, and remaining work.</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User counts are the provided quantity. Source patterns supply initial trip estimates. Tab 3 establishes the final person targets, and Tab 4 can adjust the trips assigned to those people.</a:t>
            </a:r>
          </a:p>
          <a:p>
            <a:pPr marL="0" lvl="0" indent="0">
              <a:buNone/>
            </a:pPr>
            <a:endParaRPr dirty="0"/>
          </a:p>
          <a:p>
            <a:pPr marL="0" lvl="0" indent="0">
              <a:buNone/>
            </a:pPr>
            <a:r>
              <a:rPr dirty="0"/>
              <a:t>Full-resolution diagram: User-count route. Open the original PNG and zoom for detailed discussion. Source: docs/</a:t>
            </a:r>
            <a:r>
              <a:rPr dirty="0" err="1"/>
              <a:t>ui_data_authority_workflow_diagrams.qmd</a:t>
            </a:r>
            <a:r>
              <a:rPr dirty="0"/>
              <a:t>.</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Trip counts are the provided quantity. The app estimates the people needed to represent that travel. Population refinements preserve the trip targets until an explicit Tab 4 edit. Changed user counts therefore change trips per user.</a:t>
            </a:r>
          </a:p>
          <a:p>
            <a:pPr marL="0" lvl="0" indent="0">
              <a:buNone/>
            </a:pPr>
            <a:endParaRPr dirty="0"/>
          </a:p>
          <a:p>
            <a:pPr marL="0" lvl="0" indent="0">
              <a:buNone/>
            </a:pPr>
            <a:r>
              <a:rPr dirty="0"/>
              <a:t>Full-resolution diagram: Trip-count route. Source: docs/</a:t>
            </a:r>
            <a:r>
              <a:rPr dirty="0" err="1"/>
              <a:t>ui_data_authority_workflow_diagrams.qmd</a:t>
            </a:r>
            <a:r>
              <a:rPr dirty="0"/>
              <a:t>.</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The app converts supplied distance or duration into estimated trip counts using source means per trip, then derives person equivalents. Realized totals reflect sampled trip patterns; these are not guaranteed to reproduce an exact aggregate distance or duration. A later explicit Tab 4 trip count supersedes the derived trip count.</a:t>
            </a:r>
          </a:p>
          <a:p>
            <a:pPr marL="0" lvl="0" indent="0">
              <a:buNone/>
            </a:pPr>
            <a:endParaRPr dirty="0"/>
          </a:p>
          <a:p>
            <a:pPr marL="0" lvl="0" indent="0">
              <a:buNone/>
            </a:pPr>
            <a:r>
              <a:rPr dirty="0"/>
              <a:t>Full-resolution diagram: Distance/duration route. Source: docs/</a:t>
            </a:r>
            <a:r>
              <a:rPr dirty="0" err="1"/>
              <a:t>ui_data_authority_workflow_diagrams.qmd</a:t>
            </a:r>
            <a:r>
              <a:rPr dirty="0"/>
              <a:t>.</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The app combines mode shares with the supplied or suggested denominator to derive per-mode trip targets. Shares alone do not define population size. Later explicit trip edits can change the realized shares.</a:t>
            </a:r>
          </a:p>
          <a:p>
            <a:pPr marL="0" lvl="0" indent="0">
              <a:buNone/>
            </a:pPr>
            <a:endParaRPr dirty="0"/>
          </a:p>
          <a:p>
            <a:pPr marL="0" lvl="0" indent="0">
              <a:buNone/>
            </a:pPr>
            <a:r>
              <a:rPr dirty="0"/>
              <a:t>Full-resolution diagram: Mode-share route. Source: docs/</a:t>
            </a:r>
            <a:r>
              <a:rPr dirty="0" err="1"/>
              <a:t>ui_data_authority_workflow_diagrams.qmd</a:t>
            </a:r>
            <a:r>
              <a:rPr dirty="0"/>
              <a:t>.</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Trace how accepted population counts pass to trip allocation and final results. The aim is a forward sequence: later trip refinements do not recalculate the accepted person counts. Filters and sampling weights refine allocation within this sequence.</a:t>
            </a:r>
          </a:p>
          <a:p>
            <a:pPr marL="0" lvl="0" indent="0">
              <a:buNone/>
            </a:pPr>
            <a:endParaRPr dirty="0"/>
          </a:p>
          <a:p>
            <a:pPr marL="0" lvl="0" indent="0">
              <a:buNone/>
            </a:pPr>
            <a:r>
              <a:rPr dirty="0"/>
              <a:t>Full-resolution diagram: Tab 3 to results. Source: docs/</a:t>
            </a:r>
            <a:r>
              <a:rPr dirty="0" err="1"/>
              <a:t>ui_data_authority_workflow_diagrams.qmd</a:t>
            </a:r>
            <a:r>
              <a:rPr dirty="0"/>
              <a:t>.</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Use this as an orientation map, not a diagram to read box by box when projected. The preceding route-specific backups are easier to discuss. The complete workflow connects source data, all four Tab 2 routes, population and trip refinements, sampling, and health results.</a:t>
            </a:r>
          </a:p>
          <a:p>
            <a:pPr marL="0" lvl="0" indent="0">
              <a:buNone/>
            </a:pPr>
            <a:endParaRPr dirty="0"/>
          </a:p>
          <a:p>
            <a:pPr marL="0" lvl="0" indent="0">
              <a:buNone/>
            </a:pPr>
            <a:r>
              <a:rPr dirty="0"/>
              <a:t>Full-resolution diagram: Complete workflow. Source: docs/</a:t>
            </a:r>
            <a:r>
              <a:rPr dirty="0" err="1"/>
              <a:t>ui_data_authority_workflow_diagrams.qmd</a:t>
            </a:r>
            <a:r>
              <a:rPr dirty="0"/>
              <a:t>. The diagrams describe the intended data-authority workflow; use the sampling slide and its notes for current fallback details and implementation nuances.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lnSpc>
                <a:spcPct val="100000"/>
              </a:lnSpc>
              <a:buNone/>
              <a:defRPr>
                <a:solidFill>
                  <a:schemeClr val="tx1">
                    <a:tint val="75000"/>
                  </a:schemeClr>
                </a:solidFill>
              </a:defRPr>
            </a:lvl1pPr>
            <a:lvl2pPr marL="342900" indent="0" algn="ctr">
              <a:lnSpc>
                <a:spcPct val="100000"/>
              </a:lnSpc>
              <a:buNone/>
              <a:defRPr>
                <a:solidFill>
                  <a:schemeClr val="tx1">
                    <a:tint val="75000"/>
                  </a:schemeClr>
                </a:solidFill>
              </a:defRPr>
            </a:lvl2pPr>
            <a:lvl3pPr marL="685800" indent="0" algn="ctr">
              <a:lnSpc>
                <a:spcPct val="100000"/>
              </a:lnSpc>
              <a:buNone/>
              <a:defRPr>
                <a:solidFill>
                  <a:schemeClr val="tx1">
                    <a:tint val="75000"/>
                  </a:schemeClr>
                </a:solidFill>
              </a:defRPr>
            </a:lvl3pPr>
            <a:lvl4pPr marL="1028700" indent="0" algn="ctr">
              <a:lnSpc>
                <a:spcPct val="100000"/>
              </a:lnSpc>
              <a:buNone/>
              <a:defRPr>
                <a:solidFill>
                  <a:schemeClr val="tx1">
                    <a:tint val="75000"/>
                  </a:schemeClr>
                </a:solidFill>
              </a:defRPr>
            </a:lvl4pPr>
            <a:lvl5pPr marL="1371600" indent="0" algn="ctr">
              <a:lnSpc>
                <a:spcPct val="100000"/>
              </a:lnSpc>
              <a:buNone/>
              <a:defRPr>
                <a:solidFill>
                  <a:schemeClr val="tx1">
                    <a:tint val="75000"/>
                  </a:schemeClr>
                </a:solidFill>
              </a:defRPr>
            </a:lvl5pPr>
            <a:lvl6pPr marL="1714500" indent="0" algn="ctr">
              <a:lnSpc>
                <a:spcPct val="100000"/>
              </a:lnSpc>
              <a:buNone/>
              <a:defRPr>
                <a:solidFill>
                  <a:schemeClr val="tx1">
                    <a:tint val="75000"/>
                  </a:schemeClr>
                </a:solidFill>
              </a:defRPr>
            </a:lvl6pPr>
            <a:lvl7pPr marL="2057400" indent="0" algn="ctr">
              <a:lnSpc>
                <a:spcPct val="100000"/>
              </a:lnSpc>
              <a:buNone/>
              <a:defRPr>
                <a:solidFill>
                  <a:schemeClr val="tx1">
                    <a:tint val="75000"/>
                  </a:schemeClr>
                </a:solidFill>
              </a:defRPr>
            </a:lvl7pPr>
            <a:lvl8pPr marL="2400300" indent="0" algn="ctr">
              <a:lnSpc>
                <a:spcPct val="100000"/>
              </a:lnSpc>
              <a:buNone/>
              <a:defRPr>
                <a:solidFill>
                  <a:schemeClr val="tx1">
                    <a:tint val="75000"/>
                  </a:schemeClr>
                </a:solidFill>
              </a:defRPr>
            </a:lvl8pPr>
            <a:lvl9pPr marL="2743200" indent="0" algn="ctr">
              <a:lnSpc>
                <a:spcPct val="100000"/>
              </a:lnSpc>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9/8/26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9/8/26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lnSpc>
                <a:spcPct val="100000"/>
              </a:lnSpc>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lnSpc>
                <a:spcPct val="100000"/>
              </a:lnSpc>
              <a:buNone/>
              <a:defRPr sz="1500">
                <a:solidFill>
                  <a:schemeClr val="tx1">
                    <a:tint val="75000"/>
                  </a:schemeClr>
                </a:solidFill>
              </a:defRPr>
            </a:lvl1pPr>
            <a:lvl2pPr marL="342900" indent="0">
              <a:lnSpc>
                <a:spcPct val="100000"/>
              </a:lnSpc>
              <a:buNone/>
              <a:defRPr sz="1350">
                <a:solidFill>
                  <a:schemeClr val="tx1">
                    <a:tint val="75000"/>
                  </a:schemeClr>
                </a:solidFill>
              </a:defRPr>
            </a:lvl2pPr>
            <a:lvl3pPr marL="685800" indent="0">
              <a:lnSpc>
                <a:spcPct val="100000"/>
              </a:lnSpc>
              <a:buNone/>
              <a:defRPr sz="1200">
                <a:solidFill>
                  <a:schemeClr val="tx1">
                    <a:tint val="75000"/>
                  </a:schemeClr>
                </a:solidFill>
              </a:defRPr>
            </a:lvl3pPr>
            <a:lvl4pPr marL="1028700" indent="0">
              <a:lnSpc>
                <a:spcPct val="100000"/>
              </a:lnSpc>
              <a:buNone/>
              <a:defRPr sz="1050">
                <a:solidFill>
                  <a:schemeClr val="tx1">
                    <a:tint val="75000"/>
                  </a:schemeClr>
                </a:solidFill>
              </a:defRPr>
            </a:lvl4pPr>
            <a:lvl5pPr marL="1371600" indent="0">
              <a:lnSpc>
                <a:spcPct val="100000"/>
              </a:lnSpc>
              <a:buNone/>
              <a:defRPr sz="1050">
                <a:solidFill>
                  <a:schemeClr val="tx1">
                    <a:tint val="75000"/>
                  </a:schemeClr>
                </a:solidFill>
              </a:defRPr>
            </a:lvl5pPr>
            <a:lvl6pPr marL="1714500" indent="0">
              <a:lnSpc>
                <a:spcPct val="100000"/>
              </a:lnSpc>
              <a:buNone/>
              <a:defRPr sz="1050">
                <a:solidFill>
                  <a:schemeClr val="tx1">
                    <a:tint val="75000"/>
                  </a:schemeClr>
                </a:solidFill>
              </a:defRPr>
            </a:lvl6pPr>
            <a:lvl7pPr marL="2057400" indent="0">
              <a:lnSpc>
                <a:spcPct val="100000"/>
              </a:lnSpc>
              <a:buNone/>
              <a:defRPr sz="1050">
                <a:solidFill>
                  <a:schemeClr val="tx1">
                    <a:tint val="75000"/>
                  </a:schemeClr>
                </a:solidFill>
              </a:defRPr>
            </a:lvl7pPr>
            <a:lvl8pPr marL="2400300" indent="0">
              <a:lnSpc>
                <a:spcPct val="100000"/>
              </a:lnSpc>
              <a:buNone/>
              <a:defRPr sz="1050">
                <a:solidFill>
                  <a:schemeClr val="tx1">
                    <a:tint val="75000"/>
                  </a:schemeClr>
                </a:solidFill>
              </a:defRPr>
            </a:lvl8pPr>
            <a:lvl9pPr marL="2743200" indent="0">
              <a:lnSpc>
                <a:spcPct val="100000"/>
              </a:lnSpc>
              <a:buNone/>
              <a:defRPr sz="1050">
                <a:solidFill>
                  <a:schemeClr val="tx1">
                    <a:tint val="75000"/>
                  </a:schemeClr>
                </a:solidFill>
              </a:defRPr>
            </a:lvl9pPr>
          </a:lstStyle>
          <a:p>
            <a:pPr lvl="0">
              <a:lnSpc>
                <a:spcPct val="100000"/>
              </a:lnSpc>
            </a:pPr>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9/8/26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lnSpc>
                <a:spcPct val="100000"/>
              </a:lnSpc>
              <a:defRPr sz="2100"/>
            </a:lvl1pPr>
            <a:lvl2pPr>
              <a:lnSpc>
                <a:spcPct val="100000"/>
              </a:lnSpc>
              <a:defRPr sz="1800"/>
            </a:lvl2pPr>
            <a:lvl3pPr>
              <a:lnSpc>
                <a:spcPct val="100000"/>
              </a:lnSpc>
              <a:defRPr sz="1500"/>
            </a:lvl3pPr>
            <a:lvl4pPr>
              <a:lnSpc>
                <a:spcPct val="100000"/>
              </a:lnSpc>
              <a:defRPr sz="1350"/>
            </a:lvl4pPr>
            <a:lvl5pPr>
              <a:lnSpc>
                <a:spcPct val="100000"/>
              </a:lnSpc>
              <a:defRPr sz="1350"/>
            </a:lvl5pPr>
            <a:lvl6pPr>
              <a:lnSpc>
                <a:spcPct val="100000"/>
              </a:lnSpc>
              <a:defRPr sz="1350"/>
            </a:lvl6pPr>
            <a:lvl7pPr>
              <a:lnSpc>
                <a:spcPct val="100000"/>
              </a:lnSpc>
              <a:defRPr sz="1350"/>
            </a:lvl7pPr>
            <a:lvl8pPr>
              <a:lnSpc>
                <a:spcPct val="100000"/>
              </a:lnSpc>
              <a:defRPr sz="1350"/>
            </a:lvl8pPr>
            <a:lvl9pPr>
              <a:lnSpc>
                <a:spcPct val="100000"/>
              </a:lnSpc>
              <a:defRPr sz="1350"/>
            </a:lvl9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4" name="Content Placeholder 3"/>
          <p:cNvSpPr>
            <a:spLocks noGrp="1"/>
          </p:cNvSpPr>
          <p:nvPr>
            <p:ph sz="half" idx="2"/>
          </p:nvPr>
        </p:nvSpPr>
        <p:spPr>
          <a:xfrm>
            <a:off x="4648200" y="1200151"/>
            <a:ext cx="4038600" cy="3394472"/>
          </a:xfrm>
        </p:spPr>
        <p:txBody>
          <a:bodyPr/>
          <a:lstStyle>
            <a:lvl1pPr>
              <a:lnSpc>
                <a:spcPct val="100000"/>
              </a:lnSpc>
              <a:defRPr sz="2100"/>
            </a:lvl1pPr>
            <a:lvl2pPr>
              <a:lnSpc>
                <a:spcPct val="100000"/>
              </a:lnSpc>
              <a:defRPr sz="1800"/>
            </a:lvl2pPr>
            <a:lvl3pPr>
              <a:lnSpc>
                <a:spcPct val="100000"/>
              </a:lnSpc>
              <a:defRPr sz="1500"/>
            </a:lvl3pPr>
            <a:lvl4pPr>
              <a:lnSpc>
                <a:spcPct val="100000"/>
              </a:lnSpc>
              <a:defRPr sz="1350"/>
            </a:lvl4pPr>
            <a:lvl5pPr>
              <a:lnSpc>
                <a:spcPct val="100000"/>
              </a:lnSpc>
              <a:defRPr sz="1350"/>
            </a:lvl5pPr>
            <a:lvl6pPr>
              <a:lnSpc>
                <a:spcPct val="100000"/>
              </a:lnSpc>
              <a:defRPr sz="1350"/>
            </a:lvl6pPr>
            <a:lvl7pPr>
              <a:lnSpc>
                <a:spcPct val="100000"/>
              </a:lnSpc>
              <a:defRPr sz="1350"/>
            </a:lvl7pPr>
            <a:lvl8pPr>
              <a:lnSpc>
                <a:spcPct val="100000"/>
              </a:lnSpc>
              <a:defRPr sz="1350"/>
            </a:lvl8pPr>
            <a:lvl9pPr>
              <a:lnSpc>
                <a:spcPct val="100000"/>
              </a:lnSpc>
              <a:defRPr sz="1350"/>
            </a:lvl9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9/8/26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100000"/>
              </a:lnSpc>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lnSpc>
                <a:spcPct val="100000"/>
              </a:lnSpc>
              <a:buNone/>
              <a:defRPr sz="1800" b="1"/>
            </a:lvl1pPr>
            <a:lvl2pPr marL="342900" indent="0">
              <a:lnSpc>
                <a:spcPct val="100000"/>
              </a:lnSpc>
              <a:buNone/>
              <a:defRPr sz="1500" b="1"/>
            </a:lvl2pPr>
            <a:lvl3pPr marL="685800" indent="0">
              <a:lnSpc>
                <a:spcPct val="100000"/>
              </a:lnSpc>
              <a:buNone/>
              <a:defRPr sz="1350" b="1"/>
            </a:lvl3pPr>
            <a:lvl4pPr marL="1028700" indent="0">
              <a:lnSpc>
                <a:spcPct val="100000"/>
              </a:lnSpc>
              <a:buNone/>
              <a:defRPr sz="1200" b="1"/>
            </a:lvl4pPr>
            <a:lvl5pPr marL="1371600" indent="0">
              <a:lnSpc>
                <a:spcPct val="100000"/>
              </a:lnSpc>
              <a:buNone/>
              <a:defRPr sz="1200" b="1"/>
            </a:lvl5pPr>
            <a:lvl6pPr marL="1714500" indent="0">
              <a:lnSpc>
                <a:spcPct val="100000"/>
              </a:lnSpc>
              <a:buNone/>
              <a:defRPr sz="1200" b="1"/>
            </a:lvl6pPr>
            <a:lvl7pPr marL="2057400" indent="0">
              <a:lnSpc>
                <a:spcPct val="100000"/>
              </a:lnSpc>
              <a:buNone/>
              <a:defRPr sz="1200" b="1"/>
            </a:lvl7pPr>
            <a:lvl8pPr marL="2400300" indent="0">
              <a:lnSpc>
                <a:spcPct val="100000"/>
              </a:lnSpc>
              <a:buNone/>
              <a:defRPr sz="1200" b="1"/>
            </a:lvl8pPr>
            <a:lvl9pPr marL="2743200" indent="0">
              <a:lnSpc>
                <a:spcPct val="100000"/>
              </a:lnSpc>
              <a:buNone/>
              <a:defRPr sz="1200" b="1"/>
            </a:lvl9pPr>
          </a:lstStyle>
          <a:p>
            <a:pPr lvl="0">
              <a:lnSpc>
                <a:spcPct val="100000"/>
              </a:lnSpc>
            </a:pPr>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lnSpc>
                <a:spcPct val="100000"/>
              </a:lnSpc>
              <a:defRPr sz="1800"/>
            </a:lvl1pPr>
            <a:lvl2pPr>
              <a:lnSpc>
                <a:spcPct val="100000"/>
              </a:lnSpc>
              <a:defRPr sz="1500"/>
            </a:lvl2pPr>
            <a:lvl3pPr>
              <a:lnSpc>
                <a:spcPct val="100000"/>
              </a:lnSpc>
              <a:defRPr sz="1350"/>
            </a:lvl3pPr>
            <a:lvl4pPr>
              <a:lnSpc>
                <a:spcPct val="100000"/>
              </a:lnSpc>
              <a:defRPr sz="1200"/>
            </a:lvl4pPr>
            <a:lvl5pPr>
              <a:lnSpc>
                <a:spcPct val="100000"/>
              </a:lnSpc>
              <a:defRPr sz="1200"/>
            </a:lvl5pPr>
            <a:lvl6pPr>
              <a:lnSpc>
                <a:spcPct val="100000"/>
              </a:lnSpc>
              <a:defRPr sz="1200"/>
            </a:lvl6pPr>
            <a:lvl7pPr>
              <a:lnSpc>
                <a:spcPct val="100000"/>
              </a:lnSpc>
              <a:defRPr sz="1200"/>
            </a:lvl7pPr>
            <a:lvl8pPr>
              <a:lnSpc>
                <a:spcPct val="100000"/>
              </a:lnSpc>
              <a:defRPr sz="1200"/>
            </a:lvl8pPr>
            <a:lvl9pPr>
              <a:lnSpc>
                <a:spcPct val="100000"/>
              </a:lnSpc>
              <a:defRPr sz="1200"/>
            </a:lvl9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lnSpc>
                <a:spcPct val="100000"/>
              </a:lnSpc>
              <a:buNone/>
              <a:defRPr sz="1800" b="1"/>
            </a:lvl1pPr>
            <a:lvl2pPr marL="342900" indent="0">
              <a:lnSpc>
                <a:spcPct val="100000"/>
              </a:lnSpc>
              <a:buNone/>
              <a:defRPr sz="1500" b="1"/>
            </a:lvl2pPr>
            <a:lvl3pPr marL="685800" indent="0">
              <a:lnSpc>
                <a:spcPct val="100000"/>
              </a:lnSpc>
              <a:buNone/>
              <a:defRPr sz="1350" b="1"/>
            </a:lvl3pPr>
            <a:lvl4pPr marL="1028700" indent="0">
              <a:lnSpc>
                <a:spcPct val="100000"/>
              </a:lnSpc>
              <a:buNone/>
              <a:defRPr sz="1200" b="1"/>
            </a:lvl4pPr>
            <a:lvl5pPr marL="1371600" indent="0">
              <a:lnSpc>
                <a:spcPct val="100000"/>
              </a:lnSpc>
              <a:buNone/>
              <a:defRPr sz="1200" b="1"/>
            </a:lvl5pPr>
            <a:lvl6pPr marL="1714500" indent="0">
              <a:lnSpc>
                <a:spcPct val="100000"/>
              </a:lnSpc>
              <a:buNone/>
              <a:defRPr sz="1200" b="1"/>
            </a:lvl6pPr>
            <a:lvl7pPr marL="2057400" indent="0">
              <a:lnSpc>
                <a:spcPct val="100000"/>
              </a:lnSpc>
              <a:buNone/>
              <a:defRPr sz="1200" b="1"/>
            </a:lvl7pPr>
            <a:lvl8pPr marL="2400300" indent="0">
              <a:lnSpc>
                <a:spcPct val="100000"/>
              </a:lnSpc>
              <a:buNone/>
              <a:defRPr sz="1200" b="1"/>
            </a:lvl8pPr>
            <a:lvl9pPr marL="2743200" indent="0">
              <a:lnSpc>
                <a:spcPct val="100000"/>
              </a:lnSpc>
              <a:buNone/>
              <a:defRPr sz="1200" b="1"/>
            </a:lvl9pPr>
          </a:lstStyle>
          <a:p>
            <a:pPr lvl="0">
              <a:lnSpc>
                <a:spcPct val="100000"/>
              </a:lnSpc>
            </a:pPr>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lnSpc>
                <a:spcPct val="100000"/>
              </a:lnSpc>
              <a:defRPr sz="1800"/>
            </a:lvl1pPr>
            <a:lvl2pPr>
              <a:lnSpc>
                <a:spcPct val="100000"/>
              </a:lnSpc>
              <a:defRPr sz="1500"/>
            </a:lvl2pPr>
            <a:lvl3pPr>
              <a:lnSpc>
                <a:spcPct val="100000"/>
              </a:lnSpc>
              <a:defRPr sz="1350"/>
            </a:lvl3pPr>
            <a:lvl4pPr>
              <a:lnSpc>
                <a:spcPct val="100000"/>
              </a:lnSpc>
              <a:defRPr sz="1200"/>
            </a:lvl4pPr>
            <a:lvl5pPr>
              <a:lnSpc>
                <a:spcPct val="100000"/>
              </a:lnSpc>
              <a:defRPr sz="1200"/>
            </a:lvl5pPr>
            <a:lvl6pPr>
              <a:lnSpc>
                <a:spcPct val="100000"/>
              </a:lnSpc>
              <a:defRPr sz="1200"/>
            </a:lvl6pPr>
            <a:lvl7pPr>
              <a:lnSpc>
                <a:spcPct val="100000"/>
              </a:lnSpc>
              <a:defRPr sz="1200"/>
            </a:lvl7pPr>
            <a:lvl8pPr>
              <a:lnSpc>
                <a:spcPct val="100000"/>
              </a:lnSpc>
              <a:defRPr sz="1200"/>
            </a:lvl8pPr>
            <a:lvl9pPr>
              <a:lnSpc>
                <a:spcPct val="100000"/>
              </a:lnSpc>
              <a:defRPr sz="1200"/>
            </a:lvl9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9/8/26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9/8/26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9/8/26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lnSpc>
                <a:spcPct val="100000"/>
              </a:lnSpc>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lnSpc>
                <a:spcPct val="100000"/>
              </a:lnSpc>
              <a:defRPr sz="2400"/>
            </a:lvl1pPr>
            <a:lvl2pPr>
              <a:lnSpc>
                <a:spcPct val="100000"/>
              </a:lnSpc>
              <a:defRPr sz="2100"/>
            </a:lvl2pPr>
            <a:lvl3pPr>
              <a:lnSpc>
                <a:spcPct val="100000"/>
              </a:lnSpc>
              <a:defRPr sz="1800"/>
            </a:lvl3pPr>
            <a:lvl4pPr>
              <a:lnSpc>
                <a:spcPct val="100000"/>
              </a:lnSpc>
              <a:defRPr sz="1500"/>
            </a:lvl4pPr>
            <a:lvl5pPr>
              <a:lnSpc>
                <a:spcPct val="100000"/>
              </a:lnSpc>
              <a:defRPr sz="1500"/>
            </a:lvl5pPr>
            <a:lvl6pPr>
              <a:lnSpc>
                <a:spcPct val="100000"/>
              </a:lnSpc>
              <a:defRPr sz="1500"/>
            </a:lvl6pPr>
            <a:lvl7pPr>
              <a:lnSpc>
                <a:spcPct val="100000"/>
              </a:lnSpc>
              <a:defRPr sz="1500"/>
            </a:lvl7pPr>
            <a:lvl8pPr>
              <a:lnSpc>
                <a:spcPct val="100000"/>
              </a:lnSpc>
              <a:defRPr sz="1500"/>
            </a:lvl8pPr>
            <a:lvl9pPr>
              <a:lnSpc>
                <a:spcPct val="100000"/>
              </a:lnSpc>
              <a:defRPr sz="1500"/>
            </a:lvl9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lnSpc>
                <a:spcPct val="100000"/>
              </a:lnSpc>
              <a:buNone/>
              <a:defRPr sz="1050"/>
            </a:lvl1pPr>
            <a:lvl2pPr marL="342900" indent="0">
              <a:lnSpc>
                <a:spcPct val="100000"/>
              </a:lnSpc>
              <a:buNone/>
              <a:defRPr sz="900"/>
            </a:lvl2pPr>
            <a:lvl3pPr marL="685800" indent="0">
              <a:lnSpc>
                <a:spcPct val="100000"/>
              </a:lnSpc>
              <a:buNone/>
              <a:defRPr sz="750"/>
            </a:lvl3pPr>
            <a:lvl4pPr marL="1028700" indent="0">
              <a:lnSpc>
                <a:spcPct val="100000"/>
              </a:lnSpc>
              <a:buNone/>
              <a:defRPr sz="675"/>
            </a:lvl4pPr>
            <a:lvl5pPr marL="1371600" indent="0">
              <a:lnSpc>
                <a:spcPct val="100000"/>
              </a:lnSpc>
              <a:buNone/>
              <a:defRPr sz="675"/>
            </a:lvl5pPr>
            <a:lvl6pPr marL="1714500" indent="0">
              <a:lnSpc>
                <a:spcPct val="100000"/>
              </a:lnSpc>
              <a:buNone/>
              <a:defRPr sz="675"/>
            </a:lvl6pPr>
            <a:lvl7pPr marL="2057400" indent="0">
              <a:lnSpc>
                <a:spcPct val="100000"/>
              </a:lnSpc>
              <a:buNone/>
              <a:defRPr sz="675"/>
            </a:lvl7pPr>
            <a:lvl8pPr marL="2400300" indent="0">
              <a:lnSpc>
                <a:spcPct val="100000"/>
              </a:lnSpc>
              <a:buNone/>
              <a:defRPr sz="675"/>
            </a:lvl8pPr>
            <a:lvl9pPr marL="2743200" indent="0">
              <a:lnSpc>
                <a:spcPct val="100000"/>
              </a:lnSpc>
              <a:buNone/>
              <a:defRPr sz="675"/>
            </a:lvl9pPr>
          </a:lstStyle>
          <a:p>
            <a:pPr lvl="0">
              <a:lnSpc>
                <a:spcPct val="100000"/>
              </a:lnSpc>
            </a:pPr>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9/8/26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lnSpc>
                <a:spcPct val="100000"/>
              </a:lnSpc>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lnSpc>
                <a:spcPct val="100000"/>
              </a:lnSpc>
              <a:buNone/>
              <a:defRPr sz="2400"/>
            </a:lvl1pPr>
            <a:lvl2pPr marL="342900" indent="0">
              <a:lnSpc>
                <a:spcPct val="100000"/>
              </a:lnSpc>
              <a:buNone/>
              <a:defRPr sz="2100"/>
            </a:lvl2pPr>
            <a:lvl3pPr marL="685800" indent="0">
              <a:lnSpc>
                <a:spcPct val="100000"/>
              </a:lnSpc>
              <a:buNone/>
              <a:defRPr sz="1800"/>
            </a:lvl3pPr>
            <a:lvl4pPr marL="1028700" indent="0">
              <a:lnSpc>
                <a:spcPct val="100000"/>
              </a:lnSpc>
              <a:buNone/>
              <a:defRPr sz="1500"/>
            </a:lvl4pPr>
            <a:lvl5pPr marL="1371600" indent="0">
              <a:lnSpc>
                <a:spcPct val="100000"/>
              </a:lnSpc>
              <a:buNone/>
              <a:defRPr sz="1500"/>
            </a:lvl5pPr>
            <a:lvl6pPr marL="1714500" indent="0">
              <a:lnSpc>
                <a:spcPct val="100000"/>
              </a:lnSpc>
              <a:buNone/>
              <a:defRPr sz="1500"/>
            </a:lvl6pPr>
            <a:lvl7pPr marL="2057400" indent="0">
              <a:lnSpc>
                <a:spcPct val="100000"/>
              </a:lnSpc>
              <a:buNone/>
              <a:defRPr sz="1500"/>
            </a:lvl7pPr>
            <a:lvl8pPr marL="2400300" indent="0">
              <a:lnSpc>
                <a:spcPct val="100000"/>
              </a:lnSpc>
              <a:buNone/>
              <a:defRPr sz="1500"/>
            </a:lvl8pPr>
            <a:lvl9pPr marL="2743200" indent="0">
              <a:lnSpc>
                <a:spcPct val="100000"/>
              </a:lnSpc>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lnSpc>
                <a:spcPct val="100000"/>
              </a:lnSpc>
              <a:buNone/>
              <a:defRPr sz="1050"/>
            </a:lvl1pPr>
            <a:lvl2pPr marL="342900" indent="0">
              <a:lnSpc>
                <a:spcPct val="100000"/>
              </a:lnSpc>
              <a:buNone/>
              <a:defRPr sz="900"/>
            </a:lvl2pPr>
            <a:lvl3pPr marL="685800" indent="0">
              <a:lnSpc>
                <a:spcPct val="100000"/>
              </a:lnSpc>
              <a:buNone/>
              <a:defRPr sz="750"/>
            </a:lvl3pPr>
            <a:lvl4pPr marL="1028700" indent="0">
              <a:lnSpc>
                <a:spcPct val="100000"/>
              </a:lnSpc>
              <a:buNone/>
              <a:defRPr sz="675"/>
            </a:lvl4pPr>
            <a:lvl5pPr marL="1371600" indent="0">
              <a:lnSpc>
                <a:spcPct val="100000"/>
              </a:lnSpc>
              <a:buNone/>
              <a:defRPr sz="675"/>
            </a:lvl5pPr>
            <a:lvl6pPr marL="1714500" indent="0">
              <a:lnSpc>
                <a:spcPct val="100000"/>
              </a:lnSpc>
              <a:buNone/>
              <a:defRPr sz="675"/>
            </a:lvl6pPr>
            <a:lvl7pPr marL="2057400" indent="0">
              <a:lnSpc>
                <a:spcPct val="100000"/>
              </a:lnSpc>
              <a:buNone/>
              <a:defRPr sz="675"/>
            </a:lvl7pPr>
            <a:lvl8pPr marL="2400300" indent="0">
              <a:lnSpc>
                <a:spcPct val="100000"/>
              </a:lnSpc>
              <a:buNone/>
              <a:defRPr sz="675"/>
            </a:lvl8pPr>
            <a:lvl9pPr marL="2743200" indent="0">
              <a:lnSpc>
                <a:spcPct val="100000"/>
              </a:lnSpc>
              <a:buNone/>
              <a:defRPr sz="675"/>
            </a:lvl9pPr>
          </a:lstStyle>
          <a:p>
            <a:pPr lvl="0">
              <a:lnSpc>
                <a:spcPct val="100000"/>
              </a:lnSpc>
            </a:pPr>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9/8/26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9/8/26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9/8/26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lnSpc>
                <a:spcPct val="100000"/>
              </a:lnSpc>
              <a:defRPr sz="900">
                <a:solidFill>
                  <a:schemeClr val="tx1">
                    <a:tint val="75000"/>
                  </a:schemeClr>
                </a:solidFill>
              </a:defRPr>
            </a:lvl1pPr>
          </a:lstStyle>
          <a:p>
            <a:fld id="{241EB5C9-1307-BA42-ABA2-0BC069CD8E7F}" type="datetimeFigureOut">
              <a:rPr lang="en-US" smtClean="0"/>
              <a:t>9/8/26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lnSpc>
                <a:spcPct val="100000"/>
              </a:lnSpc>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lnSpc>
                <a:spcPct val="100000"/>
              </a:lnSpc>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342900" rtl="0" eaLnBrk="1" latinLnBrk="0" hangingPunct="1">
        <a:lnSpc>
          <a:spcPct val="100000"/>
        </a:lnSpc>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lnSpc>
          <a:spcPct val="100000"/>
        </a:lnSpc>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lnSpc>
          <a:spcPct val="100000"/>
        </a:lnSpc>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lnSpc>
          <a:spcPct val="100000"/>
        </a:lnSpc>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lnSpc>
          <a:spcPct val="100000"/>
        </a:lnSpc>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lnSpc>
          <a:spcPct val="100000"/>
        </a:lnSpc>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lnSpc>
          <a:spcPct val="100000"/>
        </a:lnSpc>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lnSpc>
          <a:spcPct val="100000"/>
        </a:lnSpc>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lnSpc>
          <a:spcPct val="100000"/>
        </a:lnSpc>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lnSpc>
          <a:spcPct val="100000"/>
        </a:lnSpc>
        <a:spcBef>
          <a:spcPct val="20000"/>
        </a:spcBef>
        <a:buFont typeface="Arial"/>
        <a:buChar char="•"/>
        <a:defRPr sz="1500" kern="1200">
          <a:solidFill>
            <a:schemeClr val="tx1"/>
          </a:solidFill>
          <a:latin typeface="+mn-lt"/>
          <a:ea typeface="+mn-ea"/>
          <a:cs typeface="+mn-cs"/>
        </a:defRPr>
      </a:lvl9pPr>
    </p:bodyStyle>
    <p:otherStyle>
      <a:defPPr>
        <a:lnSpc>
          <a:spcPct val="100000"/>
        </a:lnSpc>
        <a:defRPr lang="en-US"/>
      </a:defPPr>
      <a:lvl1pPr marL="0" algn="l" defTabSz="342900" rtl="0" eaLnBrk="1" latinLnBrk="0" hangingPunct="1">
        <a:lnSpc>
          <a:spcPct val="100000"/>
        </a:lnSpc>
        <a:defRPr sz="1350" kern="1200">
          <a:solidFill>
            <a:schemeClr val="tx1"/>
          </a:solidFill>
          <a:latin typeface="+mn-lt"/>
          <a:ea typeface="+mn-ea"/>
          <a:cs typeface="+mn-cs"/>
        </a:defRPr>
      </a:lvl1pPr>
      <a:lvl2pPr marL="342900" algn="l" defTabSz="342900" rtl="0" eaLnBrk="1" latinLnBrk="0" hangingPunct="1">
        <a:lnSpc>
          <a:spcPct val="100000"/>
        </a:lnSpc>
        <a:defRPr sz="1350" kern="1200">
          <a:solidFill>
            <a:schemeClr val="tx1"/>
          </a:solidFill>
          <a:latin typeface="+mn-lt"/>
          <a:ea typeface="+mn-ea"/>
          <a:cs typeface="+mn-cs"/>
        </a:defRPr>
      </a:lvl2pPr>
      <a:lvl3pPr marL="685800" algn="l" defTabSz="342900" rtl="0" eaLnBrk="1" latinLnBrk="0" hangingPunct="1">
        <a:lnSpc>
          <a:spcPct val="100000"/>
        </a:lnSpc>
        <a:defRPr sz="1350" kern="1200">
          <a:solidFill>
            <a:schemeClr val="tx1"/>
          </a:solidFill>
          <a:latin typeface="+mn-lt"/>
          <a:ea typeface="+mn-ea"/>
          <a:cs typeface="+mn-cs"/>
        </a:defRPr>
      </a:lvl3pPr>
      <a:lvl4pPr marL="1028700" algn="l" defTabSz="342900" rtl="0" eaLnBrk="1" latinLnBrk="0" hangingPunct="1">
        <a:lnSpc>
          <a:spcPct val="100000"/>
        </a:lnSpc>
        <a:defRPr sz="1350" kern="1200">
          <a:solidFill>
            <a:schemeClr val="tx1"/>
          </a:solidFill>
          <a:latin typeface="+mn-lt"/>
          <a:ea typeface="+mn-ea"/>
          <a:cs typeface="+mn-cs"/>
        </a:defRPr>
      </a:lvl4pPr>
      <a:lvl5pPr marL="1371600" algn="l" defTabSz="342900" rtl="0" eaLnBrk="1" latinLnBrk="0" hangingPunct="1">
        <a:lnSpc>
          <a:spcPct val="100000"/>
        </a:lnSpc>
        <a:defRPr sz="1350" kern="1200">
          <a:solidFill>
            <a:schemeClr val="tx1"/>
          </a:solidFill>
          <a:latin typeface="+mn-lt"/>
          <a:ea typeface="+mn-ea"/>
          <a:cs typeface="+mn-cs"/>
        </a:defRPr>
      </a:lvl5pPr>
      <a:lvl6pPr marL="1714500" algn="l" defTabSz="342900" rtl="0" eaLnBrk="1" latinLnBrk="0" hangingPunct="1">
        <a:lnSpc>
          <a:spcPct val="100000"/>
        </a:lnSpc>
        <a:defRPr sz="1350" kern="1200">
          <a:solidFill>
            <a:schemeClr val="tx1"/>
          </a:solidFill>
          <a:latin typeface="+mn-lt"/>
          <a:ea typeface="+mn-ea"/>
          <a:cs typeface="+mn-cs"/>
        </a:defRPr>
      </a:lvl6pPr>
      <a:lvl7pPr marL="2057400" algn="l" defTabSz="342900" rtl="0" eaLnBrk="1" latinLnBrk="0" hangingPunct="1">
        <a:lnSpc>
          <a:spcPct val="100000"/>
        </a:lnSpc>
        <a:defRPr sz="1350" kern="1200">
          <a:solidFill>
            <a:schemeClr val="tx1"/>
          </a:solidFill>
          <a:latin typeface="+mn-lt"/>
          <a:ea typeface="+mn-ea"/>
          <a:cs typeface="+mn-cs"/>
        </a:defRPr>
      </a:lvl7pPr>
      <a:lvl8pPr marL="2400300" algn="l" defTabSz="342900" rtl="0" eaLnBrk="1" latinLnBrk="0" hangingPunct="1">
        <a:lnSpc>
          <a:spcPct val="100000"/>
        </a:lnSpc>
        <a:defRPr sz="1350" kern="1200">
          <a:solidFill>
            <a:schemeClr val="tx1"/>
          </a:solidFill>
          <a:latin typeface="+mn-lt"/>
          <a:ea typeface="+mn-ea"/>
          <a:cs typeface="+mn-cs"/>
        </a:defRPr>
      </a:lvl8pPr>
      <a:lvl9pPr marL="2743200" algn="l" defTabSz="342900" rtl="0" eaLnBrk="1" latinLnBrk="0" hangingPunct="1">
        <a:lnSpc>
          <a:spcPct val="100000"/>
        </a:lnSpc>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miamat.org/" TargetMode="External"/><Relationship Id="rId2" Type="http://schemas.openxmlformats.org/officeDocument/2006/relationships/hyperlink" Target="https://hiq-miama-ui.share.connect.posit.cloud/"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0C43D-837B-378F-3019-305717A73D0B}"/>
              </a:ext>
            </a:extLst>
          </p:cNvPr>
          <p:cNvSpPr>
            <a:spLocks noGrp="1"/>
          </p:cNvSpPr>
          <p:nvPr>
            <p:ph type="ctrTitle"/>
          </p:nvPr>
        </p:nvSpPr>
        <p:spPr/>
        <p:txBody>
          <a:bodyPr>
            <a:normAutofit fontScale="90000"/>
          </a:bodyPr>
          <a:lstStyle/>
          <a:p>
            <a:r>
              <a:rPr lang="en-US"/>
              <a:t>MIAMAT</a:t>
            </a:r>
            <a:br>
              <a:rPr lang="en-US"/>
            </a:br>
            <a:r>
              <a:rPr lang="en-US"/>
              <a:t>Morbidity Impacts of Active Mobility Appraisal Tool</a:t>
            </a:r>
          </a:p>
        </p:txBody>
      </p:sp>
      <p:sp>
        <p:nvSpPr>
          <p:cNvPr id="3" name="Subtitle 2">
            <a:extLst>
              <a:ext uri="{FF2B5EF4-FFF2-40B4-BE49-F238E27FC236}">
                <a16:creationId xmlns:a16="http://schemas.microsoft.com/office/drawing/2014/main" id="{67D39137-766D-C07A-9901-8FC7D3A8D6E5}"/>
              </a:ext>
            </a:extLst>
          </p:cNvPr>
          <p:cNvSpPr>
            <a:spLocks noGrp="1"/>
          </p:cNvSpPr>
          <p:nvPr>
            <p:ph type="subTitle" idx="1"/>
          </p:nvPr>
        </p:nvSpPr>
        <p:spPr/>
        <p:txBody>
          <a:bodyPr/>
          <a:lstStyle/>
          <a:p>
            <a:r>
              <a:rPr lang="en-US"/>
              <a:t>User Testing (Round 1)</a:t>
            </a:r>
          </a:p>
        </p:txBody>
      </p:sp>
    </p:spTree>
    <p:extLst>
      <p:ext uri="{BB962C8B-B14F-4D97-AF65-F5344CB8AC3E}">
        <p14:creationId xmlns:p14="http://schemas.microsoft.com/office/powerpoint/2010/main" val="4084982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B01EF-FCA8-DF77-750E-FA6A5F04EA7F}"/>
              </a:ext>
            </a:extLst>
          </p:cNvPr>
          <p:cNvSpPr>
            <a:spLocks noGrp="1"/>
          </p:cNvSpPr>
          <p:nvPr>
            <p:ph type="title"/>
          </p:nvPr>
        </p:nvSpPr>
        <p:spPr/>
        <p:txBody>
          <a:bodyPr/>
          <a:lstStyle/>
          <a:p>
            <a:r>
              <a:rPr lang="en-US"/>
              <a:t>Goals for Today</a:t>
            </a:r>
          </a:p>
        </p:txBody>
      </p:sp>
      <p:sp>
        <p:nvSpPr>
          <p:cNvPr id="3" name="Content Placeholder 2">
            <a:extLst>
              <a:ext uri="{FF2B5EF4-FFF2-40B4-BE49-F238E27FC236}">
                <a16:creationId xmlns:a16="http://schemas.microsoft.com/office/drawing/2014/main" id="{FDFA19F4-5658-8921-F787-7D1102A8C04F}"/>
              </a:ext>
            </a:extLst>
          </p:cNvPr>
          <p:cNvSpPr>
            <a:spLocks noGrp="1"/>
          </p:cNvSpPr>
          <p:nvPr>
            <p:ph idx="1"/>
          </p:nvPr>
        </p:nvSpPr>
        <p:spPr/>
        <p:txBody>
          <a:bodyPr>
            <a:normAutofit fontScale="92500" lnSpcReduction="10000"/>
          </a:bodyPr>
          <a:lstStyle/>
          <a:p>
            <a:r>
              <a:rPr lang="en-US"/>
              <a:t>Starting point: </a:t>
            </a:r>
          </a:p>
          <a:p>
            <a:pPr lvl="1"/>
            <a:r>
              <a:rPr lang="en-US"/>
              <a:t>Novel tool to estimate morbidity impacts of active travel schemes</a:t>
            </a:r>
          </a:p>
          <a:p>
            <a:pPr lvl="1"/>
            <a:r>
              <a:rPr lang="en-US"/>
              <a:t>First time presentation to “potential users” </a:t>
            </a:r>
          </a:p>
          <a:p>
            <a:pPr lvl="1"/>
            <a:r>
              <a:rPr lang="en-US"/>
              <a:t>Tool is 95% functional (but some bugs to be expected. Performance is slow)</a:t>
            </a:r>
          </a:p>
          <a:p>
            <a:r>
              <a:rPr lang="en-US"/>
              <a:t>1. Priority: </a:t>
            </a:r>
          </a:p>
          <a:p>
            <a:pPr lvl="1"/>
            <a:r>
              <a:rPr lang="en-US"/>
              <a:t>Test tool navigation and interpretation of results</a:t>
            </a:r>
          </a:p>
          <a:p>
            <a:pPr lvl="1"/>
            <a:r>
              <a:rPr lang="en-US"/>
              <a:t>Gain inputs/feedback on key “final stretch” improvements (of “v1”)</a:t>
            </a:r>
          </a:p>
          <a:p>
            <a:r>
              <a:rPr lang="en-US"/>
              <a:t>2. Priority</a:t>
            </a:r>
          </a:p>
          <a:p>
            <a:pPr lvl="1"/>
            <a:r>
              <a:rPr lang="en-US"/>
              <a:t>Gain additional inputs/feedback on any aspect related to tool and methodology (possibly of relevance beyond project scope)</a:t>
            </a:r>
          </a:p>
        </p:txBody>
      </p:sp>
    </p:spTree>
    <p:extLst>
      <p:ext uri="{BB962C8B-B14F-4D97-AF65-F5344CB8AC3E}">
        <p14:creationId xmlns:p14="http://schemas.microsoft.com/office/powerpoint/2010/main" val="1585861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719A03B-D023-7D48-97DE-8584DA52B4DD}"/>
              </a:ext>
            </a:extLst>
          </p:cNvPr>
          <p:cNvSpPr/>
          <p:nvPr/>
        </p:nvSpPr>
        <p:spPr>
          <a:xfrm>
            <a:off x="457200" y="1117600"/>
            <a:ext cx="8229600" cy="38100"/>
          </a:xfrm>
          <a:prstGeom prst="rect">
            <a:avLst/>
          </a:prstGeom>
          <a:solidFill>
            <a:srgbClr val="4472C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405E8233-6BD9-EA43-3CFD-30464ACC2B2C}"/>
              </a:ext>
            </a:extLst>
          </p:cNvPr>
          <p:cNvSpPr>
            <a:spLocks noGrp="1"/>
          </p:cNvSpPr>
          <p:nvPr>
            <p:ph type="title"/>
          </p:nvPr>
        </p:nvSpPr>
        <p:spPr/>
        <p:txBody>
          <a:bodyPr/>
          <a:lstStyle/>
          <a:p>
            <a:r>
              <a:rPr lang="en-US"/>
              <a:t>The health model and its emulator</a:t>
            </a:r>
          </a:p>
        </p:txBody>
      </p:sp>
      <p:sp>
        <p:nvSpPr>
          <p:cNvPr id="3" name="Content Placeholder 2">
            <a:extLst>
              <a:ext uri="{FF2B5EF4-FFF2-40B4-BE49-F238E27FC236}">
                <a16:creationId xmlns:a16="http://schemas.microsoft.com/office/drawing/2014/main" id="{F179ADF0-1774-4A1F-C9A9-77060D7814E4}"/>
              </a:ext>
            </a:extLst>
          </p:cNvPr>
          <p:cNvSpPr>
            <a:spLocks noGrp="1"/>
          </p:cNvSpPr>
          <p:nvPr>
            <p:ph idx="1"/>
          </p:nvPr>
        </p:nvSpPr>
        <p:spPr>
          <a:xfrm>
            <a:off x="457200" y="1200150"/>
            <a:ext cx="6299200" cy="3638067"/>
          </a:xfrm>
        </p:spPr>
        <p:txBody>
          <a:bodyPr>
            <a:normAutofit fontScale="70000" lnSpcReduction="20000"/>
          </a:bodyPr>
          <a:lstStyle/>
          <a:p>
            <a:pPr marL="0" lvl="0" indent="0">
              <a:buNone/>
            </a:pPr>
            <a:r>
              <a:rPr b="1" dirty="0"/>
              <a:t>The aim was to bring morbidity into appraisal, not just mortality.</a:t>
            </a:r>
          </a:p>
          <a:p>
            <a:pPr lvl="0"/>
            <a:r>
              <a:rPr sz="2600" dirty="0"/>
              <a:t>Appraisal has counted </a:t>
            </a:r>
            <a:r>
              <a:rPr lang="en-GB" sz="2600" dirty="0"/>
              <a:t>deaths prevented and years of life gained</a:t>
            </a:r>
            <a:r>
              <a:rPr sz="2600" dirty="0"/>
              <a:t>; ill health while alive was not valued.</a:t>
            </a:r>
          </a:p>
          <a:p>
            <a:pPr lvl="0"/>
            <a:r>
              <a:rPr sz="2600" dirty="0"/>
              <a:t>A multi-state model tracks disease as well as survival, so it can report </a:t>
            </a:r>
            <a:r>
              <a:rPr lang="en-GB" sz="2600" dirty="0"/>
              <a:t>morbidity as well as mortality.</a:t>
            </a:r>
            <a:endParaRPr sz="2600" dirty="0"/>
          </a:p>
          <a:p>
            <a:pPr lvl="0"/>
            <a:r>
              <a:rPr sz="2600" dirty="0"/>
              <a:t>Running that model in full for every appraisal would be slow and demanding.</a:t>
            </a:r>
          </a:p>
          <a:p>
            <a:pPr lvl="0"/>
            <a:r>
              <a:rPr sz="2600" dirty="0"/>
              <a:t>So we use an emulator: benefit per additional </a:t>
            </a:r>
            <a:r>
              <a:rPr sz="2600" dirty="0" err="1"/>
              <a:t>mMET</a:t>
            </a:r>
            <a:r>
              <a:rPr sz="2600" dirty="0"/>
              <a:t>-hour per week</a:t>
            </a:r>
            <a:r>
              <a:rPr lang="en-GB" sz="2600" dirty="0"/>
              <a:t> (e.g. about 15 min walk)</a:t>
            </a:r>
            <a:endParaRPr sz="2600" dirty="0"/>
          </a:p>
          <a:p>
            <a:pPr lvl="0"/>
            <a:r>
              <a:rPr sz="2600" dirty="0"/>
              <a:t>It is far quicker and easier to run, which makes appraisal in this app practical.</a:t>
            </a:r>
          </a:p>
          <a:p>
            <a:pPr lvl="0"/>
            <a:r>
              <a:rPr sz="2600" dirty="0"/>
              <a:t>Outputs are prevented deaths and disease cases, life-years and HALYs.</a:t>
            </a:r>
          </a:p>
        </p:txBody>
      </p:sp>
      <p:pic>
        <p:nvPicPr>
          <p:cNvPr id="5" name="Graphic 5" descr="Heart with pulse icon representing health outcome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88200" y="1905000"/>
            <a:ext cx="1320800" cy="1320800"/>
          </a:xfrm>
          <a:prstGeom prst="rect">
            <a:avLst/>
          </a:prstGeom>
        </p:spPr>
      </p:pic>
    </p:spTree>
    <p:extLst>
      <p:ext uri="{BB962C8B-B14F-4D97-AF65-F5344CB8AC3E}">
        <p14:creationId xmlns:p14="http://schemas.microsoft.com/office/powerpoint/2010/main" val="2416693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5BFE166-3F78-834E-98AE-0C176688582B}"/>
              </a:ext>
            </a:extLst>
          </p:cNvPr>
          <p:cNvSpPr/>
          <p:nvPr/>
        </p:nvSpPr>
        <p:spPr>
          <a:xfrm>
            <a:off x="457200" y="1117600"/>
            <a:ext cx="8229600" cy="38100"/>
          </a:xfrm>
          <a:prstGeom prst="rect">
            <a:avLst/>
          </a:prstGeom>
          <a:solidFill>
            <a:srgbClr val="4472C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29B4E214-B48F-F567-50FA-93DA209598C7}"/>
              </a:ext>
            </a:extLst>
          </p:cNvPr>
          <p:cNvSpPr>
            <a:spLocks noGrp="1"/>
          </p:cNvSpPr>
          <p:nvPr>
            <p:ph type="title"/>
          </p:nvPr>
        </p:nvSpPr>
        <p:spPr/>
        <p:txBody>
          <a:bodyPr/>
          <a:lstStyle/>
          <a:p>
            <a:r>
              <a:rPr lang="en-US"/>
              <a:t>Health-adjusted life years (HALYs)</a:t>
            </a:r>
          </a:p>
        </p:txBody>
      </p:sp>
      <p:sp>
        <p:nvSpPr>
          <p:cNvPr id="3" name="Content Placeholder 2">
            <a:extLst>
              <a:ext uri="{FF2B5EF4-FFF2-40B4-BE49-F238E27FC236}">
                <a16:creationId xmlns:a16="http://schemas.microsoft.com/office/drawing/2014/main" id="{C8C71042-DCBD-A033-D670-C8D5D8073CDB}"/>
              </a:ext>
            </a:extLst>
          </p:cNvPr>
          <p:cNvSpPr>
            <a:spLocks noGrp="1"/>
          </p:cNvSpPr>
          <p:nvPr>
            <p:ph idx="1"/>
          </p:nvPr>
        </p:nvSpPr>
        <p:spPr>
          <a:xfrm>
            <a:off x="457200" y="1200151"/>
            <a:ext cx="6299200" cy="3394472"/>
          </a:xfrm>
        </p:spPr>
        <p:txBody>
          <a:bodyPr>
            <a:normAutofit fontScale="77500" lnSpcReduction="20000"/>
          </a:bodyPr>
          <a:lstStyle/>
          <a:p>
            <a:pPr marL="0" lvl="0" indent="0">
              <a:buNone/>
            </a:pPr>
            <a:r>
              <a:rPr b="1" dirty="0"/>
              <a:t>HALYs combine length and quality of life in a single measure.</a:t>
            </a:r>
          </a:p>
          <a:p>
            <a:pPr lvl="0"/>
            <a:r>
              <a:rPr dirty="0"/>
              <a:t>One HALY is one year of life lived in full health.</a:t>
            </a:r>
          </a:p>
          <a:p>
            <a:pPr lvl="0"/>
            <a:r>
              <a:rPr dirty="0"/>
              <a:t>Years lived with disease count for less, weighted by severity.</a:t>
            </a:r>
          </a:p>
          <a:p>
            <a:pPr lvl="0"/>
            <a:r>
              <a:rPr dirty="0"/>
              <a:t>A scheme gains HALYs both by postponing death and by preventing illness.</a:t>
            </a:r>
          </a:p>
          <a:p>
            <a:pPr lvl="0"/>
            <a:r>
              <a:rPr dirty="0"/>
              <a:t>Weights are comorbidity-adjusted, with a residual adjustment for conditions not modelled.</a:t>
            </a:r>
          </a:p>
          <a:p>
            <a:pPr lvl="0"/>
            <a:r>
              <a:rPr lang="en-GB" dirty="0"/>
              <a:t>We propose </a:t>
            </a:r>
            <a:r>
              <a:rPr dirty="0"/>
              <a:t>HALYs </a:t>
            </a:r>
            <a:r>
              <a:rPr lang="en-GB" dirty="0"/>
              <a:t>as </a:t>
            </a:r>
            <a:r>
              <a:rPr dirty="0"/>
              <a:t>the primary </a:t>
            </a:r>
            <a:r>
              <a:rPr lang="en-GB" dirty="0"/>
              <a:t>input </a:t>
            </a:r>
            <a:r>
              <a:rPr dirty="0"/>
              <a:t>for</a:t>
            </a:r>
            <a:r>
              <a:rPr lang="en-GB" dirty="0"/>
              <a:t> monetisation of health benefits</a:t>
            </a:r>
            <a:r>
              <a:rPr dirty="0"/>
              <a:t>.</a:t>
            </a:r>
          </a:p>
          <a:p>
            <a:pPr lvl="0"/>
            <a:r>
              <a:rPr dirty="0"/>
              <a:t>Prevented deaths, disease cases and life-years are still reported alongside.</a:t>
            </a:r>
          </a:p>
        </p:txBody>
      </p:sp>
      <p:pic>
        <p:nvPicPr>
          <p:cNvPr id="5" name="Graphic 5" descr="Hourglass icon representing years of healthy lif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88200" y="1905000"/>
            <a:ext cx="1320800" cy="1320800"/>
          </a:xfrm>
          <a:prstGeom prst="rect">
            <a:avLst/>
          </a:prstGeom>
        </p:spPr>
      </p:pic>
    </p:spTree>
    <p:extLst>
      <p:ext uri="{BB962C8B-B14F-4D97-AF65-F5344CB8AC3E}">
        <p14:creationId xmlns:p14="http://schemas.microsoft.com/office/powerpoint/2010/main" val="2793346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DA740-A20F-0991-ADFA-9F1410EE984E}"/>
              </a:ext>
            </a:extLst>
          </p:cNvPr>
          <p:cNvSpPr>
            <a:spLocks noGrp="1"/>
          </p:cNvSpPr>
          <p:nvPr>
            <p:ph type="title"/>
          </p:nvPr>
        </p:nvSpPr>
        <p:spPr/>
        <p:txBody>
          <a:bodyPr/>
          <a:lstStyle/>
          <a:p>
            <a:r>
              <a:rPr lang="en-US"/>
              <a:t>What this adds to appraisal</a:t>
            </a:r>
          </a:p>
        </p:txBody>
      </p:sp>
      <p:sp>
        <p:nvSpPr>
          <p:cNvPr id="3" name="Content Placeholder 2">
            <a:extLst>
              <a:ext uri="{FF2B5EF4-FFF2-40B4-BE49-F238E27FC236}">
                <a16:creationId xmlns:a16="http://schemas.microsoft.com/office/drawing/2014/main" id="{B4323FA6-D9F5-7D5D-AD26-4F2C0D343359}"/>
              </a:ext>
            </a:extLst>
          </p:cNvPr>
          <p:cNvSpPr>
            <a:spLocks noGrp="1"/>
          </p:cNvSpPr>
          <p:nvPr>
            <p:ph idx="1"/>
          </p:nvPr>
        </p:nvSpPr>
        <p:spPr/>
        <p:txBody>
          <a:bodyPr>
            <a:normAutofit fontScale="70000" lnSpcReduction="20000"/>
          </a:bodyPr>
          <a:lstStyle/>
          <a:p>
            <a:pPr marL="0" lvl="0" indent="0">
              <a:lnSpc>
                <a:spcPct val="120000"/>
              </a:lnSpc>
              <a:buNone/>
            </a:pPr>
            <a:r>
              <a:rPr sz="2800" b="1" dirty="0"/>
              <a:t>Beyond a population-average, mortality-only calculation.</a:t>
            </a:r>
          </a:p>
          <a:p>
            <a:pPr lvl="0">
              <a:lnSpc>
                <a:spcPct val="120000"/>
              </a:lnSpc>
            </a:pPr>
            <a:r>
              <a:rPr sz="2400" dirty="0"/>
              <a:t>Effects are estimated for individuals with their own age, sex, deprivation and starting activity, then summed, rather than for an average person scaled up.</a:t>
            </a:r>
          </a:p>
          <a:p>
            <a:pPr lvl="0">
              <a:lnSpc>
                <a:spcPct val="120000"/>
              </a:lnSpc>
            </a:pPr>
            <a:r>
              <a:rPr sz="2400" dirty="0"/>
              <a:t>Morbidity is included: sixteen diseases, prevalence over time, and HALYs alongside deaths and life years.</a:t>
            </a:r>
          </a:p>
          <a:p>
            <a:pPr lvl="0">
              <a:lnSpc>
                <a:spcPct val="120000"/>
              </a:lnSpc>
            </a:pPr>
            <a:r>
              <a:rPr sz="2400" dirty="0"/>
              <a:t>The time profile of benefit is modelled explicitly over 40 years rather than assumed.</a:t>
            </a:r>
          </a:p>
          <a:p>
            <a:pPr lvl="0">
              <a:lnSpc>
                <a:spcPct val="120000"/>
              </a:lnSpc>
            </a:pPr>
            <a:r>
              <a:rPr sz="2400" dirty="0"/>
              <a:t>Who changes matters: the same number of new trips gives different health returns depending on who makes them, and the tool shows that.</a:t>
            </a:r>
          </a:p>
          <a:p>
            <a:pPr lvl="0">
              <a:lnSpc>
                <a:spcPct val="120000"/>
              </a:lnSpc>
            </a:pPr>
            <a:r>
              <a:rPr sz="2400" dirty="0"/>
              <a:t>Every assumption used to complete an appraisal is recorded with its source, so a result can be audited.</a:t>
            </a:r>
          </a:p>
        </p:txBody>
      </p:sp>
      <p:sp>
        <p:nvSpPr>
          <p:cNvPr id="4" name="Rectangle 3">
            <a:extLst>
              <a:ext uri="{FF2B5EF4-FFF2-40B4-BE49-F238E27FC236}">
                <a16:creationId xmlns:a16="http://schemas.microsoft.com/office/drawing/2014/main" id="{6A705B23-115C-2146-BB8B-1914083F9119}"/>
              </a:ext>
            </a:extLst>
          </p:cNvPr>
          <p:cNvSpPr/>
          <p:nvPr/>
        </p:nvSpPr>
        <p:spPr>
          <a:xfrm>
            <a:off x="457200" y="1117600"/>
            <a:ext cx="8229600" cy="38100"/>
          </a:xfrm>
          <a:prstGeom prst="rect">
            <a:avLst/>
          </a:prstGeom>
          <a:solidFill>
            <a:srgbClr val="4F81B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140885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037CC22-43BB-754C-AB89-ACA4B1A131A9}"/>
              </a:ext>
            </a:extLst>
          </p:cNvPr>
          <p:cNvSpPr/>
          <p:nvPr/>
        </p:nvSpPr>
        <p:spPr>
          <a:xfrm>
            <a:off x="457200" y="1117600"/>
            <a:ext cx="8229600" cy="38100"/>
          </a:xfrm>
          <a:prstGeom prst="rect">
            <a:avLst/>
          </a:prstGeom>
          <a:solidFill>
            <a:srgbClr val="4472C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84B26449-AD89-DFD9-E56E-5AFD4DC1B411}"/>
              </a:ext>
            </a:extLst>
          </p:cNvPr>
          <p:cNvSpPr>
            <a:spLocks noGrp="1"/>
          </p:cNvSpPr>
          <p:nvPr>
            <p:ph type="title"/>
          </p:nvPr>
        </p:nvSpPr>
        <p:spPr/>
        <p:txBody>
          <a:bodyPr/>
          <a:lstStyle/>
          <a:p>
            <a:r>
              <a:rPr lang="en-US"/>
              <a:t>From activity change to health impacts</a:t>
            </a:r>
          </a:p>
        </p:txBody>
      </p:sp>
      <p:sp>
        <p:nvSpPr>
          <p:cNvPr id="3" name="Content Placeholder 2">
            <a:extLst>
              <a:ext uri="{FF2B5EF4-FFF2-40B4-BE49-F238E27FC236}">
                <a16:creationId xmlns:a16="http://schemas.microsoft.com/office/drawing/2014/main" id="{CDC04146-D7A4-2865-04E7-9058F3A860B5}"/>
              </a:ext>
            </a:extLst>
          </p:cNvPr>
          <p:cNvSpPr>
            <a:spLocks noGrp="1"/>
          </p:cNvSpPr>
          <p:nvPr>
            <p:ph idx="1"/>
          </p:nvPr>
        </p:nvSpPr>
        <p:spPr>
          <a:xfrm>
            <a:off x="457200" y="1200151"/>
            <a:ext cx="8229600" cy="2984500"/>
          </a:xfrm>
        </p:spPr>
        <p:txBody>
          <a:bodyPr>
            <a:normAutofit fontScale="84500" lnSpcReduction="10000"/>
          </a:bodyPr>
          <a:lstStyle/>
          <a:p>
            <a:pPr marL="0" lvl="0" indent="0">
              <a:lnSpc>
                <a:spcPct val="105000"/>
              </a:lnSpc>
              <a:buNone/>
            </a:pPr>
            <a:r>
              <a:rPr sz="2000" b="1" dirty="0"/>
              <a:t>Benefits are stored per unit of activity, then scaled to the scheme.</a:t>
            </a:r>
          </a:p>
          <a:p>
            <a:pPr lvl="0">
              <a:lnSpc>
                <a:spcPct val="105000"/>
              </a:lnSpc>
            </a:pPr>
            <a:r>
              <a:rPr sz="1800" dirty="0"/>
              <a:t>Impacts are expressed per additional marginal MET-hour per week (</a:t>
            </a:r>
            <a:r>
              <a:rPr sz="1800" dirty="0" err="1"/>
              <a:t>mMET</a:t>
            </a:r>
            <a:r>
              <a:rPr sz="1800" dirty="0"/>
              <a:t>-h).</a:t>
            </a:r>
          </a:p>
          <a:p>
            <a:pPr lvl="0">
              <a:lnSpc>
                <a:spcPct val="105000"/>
              </a:lnSpc>
            </a:pPr>
            <a:r>
              <a:rPr sz="1800" dirty="0"/>
              <a:t>Estimates are held by sex, mortality decile (based on deprivation), single year of age and activity group.</a:t>
            </a:r>
          </a:p>
          <a:p>
            <a:pPr lvl="0">
              <a:lnSpc>
                <a:spcPct val="105000"/>
              </a:lnSpc>
            </a:pPr>
            <a:r>
              <a:rPr sz="1800" dirty="0"/>
              <a:t>Non-linear dose-response means the same increment benefits the least active most.</a:t>
            </a:r>
          </a:p>
          <a:p>
            <a:pPr lvl="0">
              <a:lnSpc>
                <a:spcPct val="105000"/>
              </a:lnSpc>
            </a:pPr>
            <a:r>
              <a:rPr sz="1800" dirty="0"/>
              <a:t>Benefits flatten above about 20 </a:t>
            </a:r>
            <a:r>
              <a:rPr sz="1800" dirty="0" err="1"/>
              <a:t>mMET</a:t>
            </a:r>
            <a:r>
              <a:rPr sz="1800" dirty="0"/>
              <a:t>-h per week; this will change for diabetes in the next model run.</a:t>
            </a:r>
          </a:p>
          <a:p>
            <a:pPr lvl="0">
              <a:lnSpc>
                <a:spcPct val="105000"/>
              </a:lnSpc>
            </a:pPr>
            <a:r>
              <a:rPr sz="1800" dirty="0"/>
              <a:t>Each cell averages 1,000 Monte Carlo runs over 40 years.</a:t>
            </a:r>
          </a:p>
          <a:p>
            <a:pPr lvl="0">
              <a:lnSpc>
                <a:spcPct val="105000"/>
              </a:lnSpc>
            </a:pPr>
            <a:r>
              <a:rPr sz="1800" dirty="0"/>
              <a:t>Results are held for every year of the appraisal period, so we can report a single year or the total.</a:t>
            </a:r>
          </a:p>
          <a:p>
            <a:pPr lvl="0">
              <a:lnSpc>
                <a:spcPct val="105000"/>
              </a:lnSpc>
            </a:pPr>
            <a:r>
              <a:rPr sz="1800" dirty="0"/>
              <a:t>A person's benefit is their stored estimate times their extra activity: Do Something minus Do Minimum, our counterfactual and reference cases.</a:t>
            </a:r>
          </a:p>
        </p:txBody>
      </p:sp>
      <p:sp>
        <p:nvSpPr>
          <p:cNvPr id="5" name="Rounded Rectangle 4">
            <a:extLst>
              <a:ext uri="{FF2B5EF4-FFF2-40B4-BE49-F238E27FC236}">
                <a16:creationId xmlns:a16="http://schemas.microsoft.com/office/drawing/2014/main" id="{A9E7AD9A-5148-1646-9107-A40FC25C2DF8}"/>
              </a:ext>
            </a:extLst>
          </p:cNvPr>
          <p:cNvSpPr/>
          <p:nvPr/>
        </p:nvSpPr>
        <p:spPr>
          <a:xfrm>
            <a:off x="457200" y="4114800"/>
            <a:ext cx="1828800" cy="787400"/>
          </a:xfrm>
          <a:prstGeom prst="roundRect">
            <a:avLst/>
          </a:prstGeom>
          <a:solidFill>
            <a:srgbClr val="EDF2FA"/>
          </a:solidFill>
          <a:ln w="12700" cap="flat" cmpd="sng" algn="ctr">
            <a:solidFill>
              <a:srgbClr val="4472C4"/>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Autofit/>
          </a:bodyPr>
          <a:lstStyle/>
          <a:p>
            <a:pPr algn="ctr"/>
            <a:r>
              <a:rPr lang="en-US" sz="1400">
                <a:solidFill>
                  <a:srgbClr val="1F3864"/>
                </a:solidFill>
              </a:rPr>
              <a:t>Person in synthetic population</a:t>
            </a:r>
          </a:p>
        </p:txBody>
      </p:sp>
      <p:sp>
        <p:nvSpPr>
          <p:cNvPr id="6" name="Right Arrow 5">
            <a:extLst>
              <a:ext uri="{FF2B5EF4-FFF2-40B4-BE49-F238E27FC236}">
                <a16:creationId xmlns:a16="http://schemas.microsoft.com/office/drawing/2014/main" id="{1EC4E53C-7511-6245-ABA7-89539656550F}"/>
              </a:ext>
            </a:extLst>
          </p:cNvPr>
          <p:cNvSpPr/>
          <p:nvPr/>
        </p:nvSpPr>
        <p:spPr>
          <a:xfrm>
            <a:off x="2311400" y="4394200"/>
            <a:ext cx="254000" cy="177800"/>
          </a:xfrm>
          <a:prstGeom prst="rightArrow">
            <a:avLst/>
          </a:prstGeom>
          <a:solidFill>
            <a:srgbClr val="4472C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7" name="Rounded Rectangle 6">
            <a:extLst>
              <a:ext uri="{FF2B5EF4-FFF2-40B4-BE49-F238E27FC236}">
                <a16:creationId xmlns:a16="http://schemas.microsoft.com/office/drawing/2014/main" id="{A4B60A01-73D2-1C4B-87FA-3B50D2B46D44}"/>
              </a:ext>
            </a:extLst>
          </p:cNvPr>
          <p:cNvSpPr/>
          <p:nvPr/>
        </p:nvSpPr>
        <p:spPr>
          <a:xfrm>
            <a:off x="2590800" y="4114800"/>
            <a:ext cx="1828800" cy="787400"/>
          </a:xfrm>
          <a:prstGeom prst="roundRect">
            <a:avLst/>
          </a:prstGeom>
          <a:solidFill>
            <a:srgbClr val="EDF2FA"/>
          </a:solidFill>
          <a:ln w="12700" cap="flat" cmpd="sng" algn="ctr">
            <a:solidFill>
              <a:srgbClr val="4472C4"/>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Autofit/>
          </a:bodyPr>
          <a:lstStyle/>
          <a:p>
            <a:pPr algn="ctr"/>
            <a:r>
              <a:rPr lang="en-US" sz="1400">
                <a:solidFill>
                  <a:srgbClr val="1F3864"/>
                </a:solidFill>
              </a:rPr>
              <a:t>Extra activity, DS minus DM (mMET-h)</a:t>
            </a:r>
          </a:p>
        </p:txBody>
      </p:sp>
      <p:sp>
        <p:nvSpPr>
          <p:cNvPr id="8" name="Right Arrow 7">
            <a:extLst>
              <a:ext uri="{FF2B5EF4-FFF2-40B4-BE49-F238E27FC236}">
                <a16:creationId xmlns:a16="http://schemas.microsoft.com/office/drawing/2014/main" id="{120F83A0-5C97-C347-A710-AD9E2053AE41}"/>
              </a:ext>
            </a:extLst>
          </p:cNvPr>
          <p:cNvSpPr/>
          <p:nvPr/>
        </p:nvSpPr>
        <p:spPr>
          <a:xfrm>
            <a:off x="4445000" y="4394200"/>
            <a:ext cx="254000" cy="177800"/>
          </a:xfrm>
          <a:prstGeom prst="rightArrow">
            <a:avLst/>
          </a:prstGeom>
          <a:solidFill>
            <a:srgbClr val="4472C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9" name="Rounded Rectangle 8">
            <a:extLst>
              <a:ext uri="{FF2B5EF4-FFF2-40B4-BE49-F238E27FC236}">
                <a16:creationId xmlns:a16="http://schemas.microsoft.com/office/drawing/2014/main" id="{2D3BB4E6-C369-3643-A4B7-F194E10DDAFB}"/>
              </a:ext>
            </a:extLst>
          </p:cNvPr>
          <p:cNvSpPr/>
          <p:nvPr/>
        </p:nvSpPr>
        <p:spPr>
          <a:xfrm>
            <a:off x="4724400" y="4114800"/>
            <a:ext cx="1828800" cy="787400"/>
          </a:xfrm>
          <a:prstGeom prst="roundRect">
            <a:avLst/>
          </a:prstGeom>
          <a:solidFill>
            <a:srgbClr val="EDF2FA"/>
          </a:solidFill>
          <a:ln w="12700" cap="flat" cmpd="sng" algn="ctr">
            <a:solidFill>
              <a:srgbClr val="4472C4"/>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Autofit/>
          </a:bodyPr>
          <a:lstStyle/>
          <a:p>
            <a:pPr algn="ctr"/>
            <a:r>
              <a:rPr lang="en-US" sz="1400">
                <a:solidFill>
                  <a:srgbClr val="1F3864"/>
                </a:solidFill>
              </a:rPr>
              <a:t>Look up matching estimate</a:t>
            </a:r>
          </a:p>
        </p:txBody>
      </p:sp>
      <p:sp>
        <p:nvSpPr>
          <p:cNvPr id="10" name="Right Arrow 9">
            <a:extLst>
              <a:ext uri="{FF2B5EF4-FFF2-40B4-BE49-F238E27FC236}">
                <a16:creationId xmlns:a16="http://schemas.microsoft.com/office/drawing/2014/main" id="{6401843E-BA3E-EE46-A30E-18D581992647}"/>
              </a:ext>
            </a:extLst>
          </p:cNvPr>
          <p:cNvSpPr/>
          <p:nvPr/>
        </p:nvSpPr>
        <p:spPr>
          <a:xfrm>
            <a:off x="6578600" y="4394200"/>
            <a:ext cx="254000" cy="177800"/>
          </a:xfrm>
          <a:prstGeom prst="rightArrow">
            <a:avLst/>
          </a:prstGeom>
          <a:solidFill>
            <a:srgbClr val="4472C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1" name="Rounded Rectangle 10">
            <a:extLst>
              <a:ext uri="{FF2B5EF4-FFF2-40B4-BE49-F238E27FC236}">
                <a16:creationId xmlns:a16="http://schemas.microsoft.com/office/drawing/2014/main" id="{F79E933A-519E-3D41-A209-378532AC4E49}"/>
              </a:ext>
            </a:extLst>
          </p:cNvPr>
          <p:cNvSpPr/>
          <p:nvPr/>
        </p:nvSpPr>
        <p:spPr>
          <a:xfrm>
            <a:off x="6858000" y="4114800"/>
            <a:ext cx="1828800" cy="787400"/>
          </a:xfrm>
          <a:prstGeom prst="roundRect">
            <a:avLst/>
          </a:prstGeom>
          <a:solidFill>
            <a:srgbClr val="EDF2FA"/>
          </a:solidFill>
          <a:ln w="12700" cap="flat" cmpd="sng" algn="ctr">
            <a:solidFill>
              <a:srgbClr val="4472C4"/>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Autofit/>
          </a:bodyPr>
          <a:lstStyle/>
          <a:p>
            <a:pPr algn="ctr"/>
            <a:r>
              <a:rPr lang="en-US" sz="1400">
                <a:solidFill>
                  <a:srgbClr val="1F3864"/>
                </a:solidFill>
              </a:rPr>
              <a:t>Impacts by year, and total</a:t>
            </a:r>
          </a:p>
        </p:txBody>
      </p:sp>
    </p:spTree>
    <p:extLst>
      <p:ext uri="{BB962C8B-B14F-4D97-AF65-F5344CB8AC3E}">
        <p14:creationId xmlns:p14="http://schemas.microsoft.com/office/powerpoint/2010/main" val="3685008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F3C417-7277-7D42-A4DA-E4AFBD99281D}"/>
              </a:ext>
            </a:extLst>
          </p:cNvPr>
          <p:cNvSpPr/>
          <p:nvPr/>
        </p:nvSpPr>
        <p:spPr>
          <a:xfrm>
            <a:off x="457200" y="1117600"/>
            <a:ext cx="8229600" cy="38100"/>
          </a:xfrm>
          <a:prstGeom prst="rect">
            <a:avLst/>
          </a:prstGeom>
          <a:solidFill>
            <a:srgbClr val="4472C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65E6DAB7-E5D9-CE2D-0EF8-B18899C42947}"/>
              </a:ext>
            </a:extLst>
          </p:cNvPr>
          <p:cNvSpPr>
            <a:spLocks noGrp="1"/>
          </p:cNvSpPr>
          <p:nvPr>
            <p:ph type="title"/>
          </p:nvPr>
        </p:nvSpPr>
        <p:spPr/>
        <p:txBody>
          <a:bodyPr/>
          <a:lstStyle/>
          <a:p>
            <a:r>
              <a:rPr lang="en-US"/>
              <a:t>Scope and assumptions</a:t>
            </a:r>
          </a:p>
        </p:txBody>
      </p:sp>
      <p:sp>
        <p:nvSpPr>
          <p:cNvPr id="3" name="Content Placeholder 2">
            <a:extLst>
              <a:ext uri="{FF2B5EF4-FFF2-40B4-BE49-F238E27FC236}">
                <a16:creationId xmlns:a16="http://schemas.microsoft.com/office/drawing/2014/main" id="{B061CCE6-6FF4-7593-FC4D-598D47FC0448}"/>
              </a:ext>
            </a:extLst>
          </p:cNvPr>
          <p:cNvSpPr>
            <a:spLocks noGrp="1"/>
          </p:cNvSpPr>
          <p:nvPr>
            <p:ph idx="1"/>
          </p:nvPr>
        </p:nvSpPr>
        <p:spPr>
          <a:xfrm>
            <a:off x="457200" y="1200151"/>
            <a:ext cx="6502400" cy="3394472"/>
          </a:xfrm>
        </p:spPr>
        <p:txBody>
          <a:bodyPr>
            <a:normAutofit fontScale="62500" lnSpcReduction="20000"/>
          </a:bodyPr>
          <a:lstStyle/>
          <a:p>
            <a:pPr marL="0" lvl="0" indent="0">
              <a:buNone/>
            </a:pPr>
            <a:r>
              <a:rPr b="1" dirty="0"/>
              <a:t>What the model covers, and what to bear in mind.</a:t>
            </a:r>
          </a:p>
          <a:p>
            <a:pPr lvl="0">
              <a:lnSpc>
                <a:spcPct val="120000"/>
              </a:lnSpc>
            </a:pPr>
            <a:r>
              <a:rPr dirty="0"/>
              <a:t>Pathway: physical activity from travel, against background non-travel activity modelled in the synthetic population.</a:t>
            </a:r>
          </a:p>
          <a:p>
            <a:pPr lvl="0">
              <a:lnSpc>
                <a:spcPct val="120000"/>
              </a:lnSpc>
            </a:pPr>
            <a:r>
              <a:rPr dirty="0"/>
              <a:t>Walking, cycling, e-bike and walking to public transport are considered together, including mode shift between them.</a:t>
            </a:r>
          </a:p>
          <a:p>
            <a:pPr lvl="0">
              <a:lnSpc>
                <a:spcPct val="120000"/>
              </a:lnSpc>
            </a:pPr>
            <a:r>
              <a:rPr dirty="0"/>
              <a:t>Benefits accumulate over an appraisal period of up to 40 years; shorter periods can be reported.</a:t>
            </a:r>
          </a:p>
          <a:p>
            <a:pPr lvl="0">
              <a:lnSpc>
                <a:spcPct val="120000"/>
              </a:lnSpc>
            </a:pPr>
            <a:r>
              <a:rPr dirty="0"/>
              <a:t>Air pollution and road injuries are appraised separately in AMAT, not here.</a:t>
            </a:r>
          </a:p>
          <a:p>
            <a:pPr lvl="0">
              <a:lnSpc>
                <a:spcPct val="120000"/>
              </a:lnSpc>
            </a:pPr>
            <a:r>
              <a:rPr dirty="0"/>
              <a:t>Risks come from our dose-response meta-analysis of cardiovascular disease, cancer and mortality (Garcia et al., BJSM 2023), plus</a:t>
            </a:r>
            <a:r>
              <a:rPr lang="en-GB" dirty="0"/>
              <a:t> our other reviews on</a:t>
            </a:r>
            <a:r>
              <a:rPr dirty="0"/>
              <a:t> diabetes and depression.</a:t>
            </a:r>
          </a:p>
        </p:txBody>
      </p:sp>
      <p:pic>
        <p:nvPicPr>
          <p:cNvPr id="5" name="Graphic 5" descr="Walking icon representing active travel"/>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39000" y="1524000"/>
            <a:ext cx="1219200" cy="1219200"/>
          </a:xfrm>
          <a:prstGeom prst="rect">
            <a:avLst/>
          </a:prstGeom>
        </p:spPr>
      </p:pic>
      <p:pic>
        <p:nvPicPr>
          <p:cNvPr id="6" name="Graphic 6" descr="Cycling icon representing active travel"/>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75500" y="2921000"/>
            <a:ext cx="1346200" cy="1346200"/>
          </a:xfrm>
          <a:prstGeom prst="rect">
            <a:avLst/>
          </a:prstGeom>
        </p:spPr>
      </p:pic>
    </p:spTree>
    <p:extLst>
      <p:ext uri="{BB962C8B-B14F-4D97-AF65-F5344CB8AC3E}">
        <p14:creationId xmlns:p14="http://schemas.microsoft.com/office/powerpoint/2010/main" val="394324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2E9D9-F571-E75C-0332-5AA5317EA48E}"/>
              </a:ext>
            </a:extLst>
          </p:cNvPr>
          <p:cNvSpPr>
            <a:spLocks noGrp="1"/>
          </p:cNvSpPr>
          <p:nvPr>
            <p:ph type="title"/>
          </p:nvPr>
        </p:nvSpPr>
        <p:spPr/>
        <p:txBody>
          <a:bodyPr/>
          <a:lstStyle/>
          <a:p>
            <a:r>
              <a:rPr lang="en-US"/>
              <a:t>Basic Tool Concept</a:t>
            </a:r>
          </a:p>
        </p:txBody>
      </p:sp>
      <p:sp>
        <p:nvSpPr>
          <p:cNvPr id="3" name="Content Placeholder 2">
            <a:extLst>
              <a:ext uri="{FF2B5EF4-FFF2-40B4-BE49-F238E27FC236}">
                <a16:creationId xmlns:a16="http://schemas.microsoft.com/office/drawing/2014/main" id="{F6DCE9B6-197D-3815-EED7-1288BD55CE78}"/>
              </a:ext>
            </a:extLst>
          </p:cNvPr>
          <p:cNvSpPr>
            <a:spLocks noGrp="1"/>
          </p:cNvSpPr>
          <p:nvPr>
            <p:ph idx="1"/>
          </p:nvPr>
        </p:nvSpPr>
        <p:spPr/>
        <p:txBody>
          <a:bodyPr/>
          <a:lstStyle/>
          <a:p>
            <a:endParaRPr lang="en-US"/>
          </a:p>
        </p:txBody>
      </p:sp>
      <p:sp>
        <p:nvSpPr>
          <p:cNvPr id="4" name="Snip Single Corner Rectangle 3">
            <a:extLst>
              <a:ext uri="{FF2B5EF4-FFF2-40B4-BE49-F238E27FC236}">
                <a16:creationId xmlns:a16="http://schemas.microsoft.com/office/drawing/2014/main" id="{8D0639B6-5B05-0BD1-1FAF-F6FE912A15FE}"/>
              </a:ext>
            </a:extLst>
          </p:cNvPr>
          <p:cNvSpPr/>
          <p:nvPr/>
        </p:nvSpPr>
        <p:spPr>
          <a:xfrm>
            <a:off x="821410" y="1580827"/>
            <a:ext cx="2681207" cy="1286359"/>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Extensive Population Data</a:t>
            </a:r>
            <a:br>
              <a:rPr lang="en-US"/>
            </a:br>
            <a:r>
              <a:rPr lang="en-US"/>
              <a:t>(Synthetic Population)</a:t>
            </a:r>
          </a:p>
        </p:txBody>
      </p:sp>
      <p:sp>
        <p:nvSpPr>
          <p:cNvPr id="5" name="Snip Single Corner Rectangle 4">
            <a:extLst>
              <a:ext uri="{FF2B5EF4-FFF2-40B4-BE49-F238E27FC236}">
                <a16:creationId xmlns:a16="http://schemas.microsoft.com/office/drawing/2014/main" id="{7A4582B3-92D4-26C4-0EF6-D0C75B3E1E87}"/>
              </a:ext>
            </a:extLst>
          </p:cNvPr>
          <p:cNvSpPr/>
          <p:nvPr/>
        </p:nvSpPr>
        <p:spPr>
          <a:xfrm>
            <a:off x="821410" y="3429687"/>
            <a:ext cx="2681207" cy="1286359"/>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Complex Health Model/Data </a:t>
            </a:r>
            <a:br>
              <a:rPr lang="en-US"/>
            </a:br>
            <a:r>
              <a:rPr lang="en-US"/>
              <a:t>(MSLT Simulation)</a:t>
            </a:r>
          </a:p>
        </p:txBody>
      </p:sp>
      <p:sp>
        <p:nvSpPr>
          <p:cNvPr id="7" name="Rounded Rectangle 6">
            <a:extLst>
              <a:ext uri="{FF2B5EF4-FFF2-40B4-BE49-F238E27FC236}">
                <a16:creationId xmlns:a16="http://schemas.microsoft.com/office/drawing/2014/main" id="{D9EFF148-D7A6-7778-FDBB-2B839BCADC74}"/>
              </a:ext>
            </a:extLst>
          </p:cNvPr>
          <p:cNvSpPr/>
          <p:nvPr/>
        </p:nvSpPr>
        <p:spPr>
          <a:xfrm>
            <a:off x="5641385" y="2460355"/>
            <a:ext cx="3091912" cy="143359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t>Simple Appraisal Tool </a:t>
            </a:r>
            <a:br>
              <a:rPr lang="en-US"/>
            </a:br>
            <a:r>
              <a:rPr lang="en-US" sz="1200"/>
              <a:t>(comparative risk assessment)</a:t>
            </a:r>
            <a:r>
              <a:rPr lang="en-US"/>
              <a:t>: </a:t>
            </a:r>
            <a:br>
              <a:rPr lang="en-US"/>
            </a:br>
            <a:r>
              <a:rPr lang="en-US"/>
              <a:t>Reference vs. Counterfactual</a:t>
            </a:r>
            <a:br>
              <a:rPr lang="en-US"/>
            </a:br>
            <a:r>
              <a:rPr lang="en-US" sz="1200"/>
              <a:t>(without vs. with)</a:t>
            </a:r>
            <a:endParaRPr lang="en-US"/>
          </a:p>
        </p:txBody>
      </p:sp>
      <p:cxnSp>
        <p:nvCxnSpPr>
          <p:cNvPr id="9" name="Elbow Connector 8">
            <a:extLst>
              <a:ext uri="{FF2B5EF4-FFF2-40B4-BE49-F238E27FC236}">
                <a16:creationId xmlns:a16="http://schemas.microsoft.com/office/drawing/2014/main" id="{54635145-2994-36A9-C959-F31865FF2D95}"/>
              </a:ext>
            </a:extLst>
          </p:cNvPr>
          <p:cNvCxnSpPr>
            <a:stCxn id="4" idx="1"/>
          </p:cNvCxnSpPr>
          <p:nvPr/>
        </p:nvCxnSpPr>
        <p:spPr>
          <a:xfrm rot="16200000" flipH="1">
            <a:off x="3746716" y="1282483"/>
            <a:ext cx="309967" cy="347937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Elbow Connector 10">
            <a:extLst>
              <a:ext uri="{FF2B5EF4-FFF2-40B4-BE49-F238E27FC236}">
                <a16:creationId xmlns:a16="http://schemas.microsoft.com/office/drawing/2014/main" id="{0C022020-5CA0-9CC7-FE9D-6BBAF0094DF5}"/>
              </a:ext>
            </a:extLst>
          </p:cNvPr>
          <p:cNvCxnSpPr>
            <a:stCxn id="5" idx="3"/>
          </p:cNvCxnSpPr>
          <p:nvPr/>
        </p:nvCxnSpPr>
        <p:spPr>
          <a:xfrm rot="5400000" flipH="1" flipV="1">
            <a:off x="3767683" y="1555986"/>
            <a:ext cx="268033" cy="347937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975A5DCD-943C-F286-8C86-59591AC68BDF}"/>
              </a:ext>
            </a:extLst>
          </p:cNvPr>
          <p:cNvSpPr txBox="1"/>
          <p:nvPr/>
        </p:nvSpPr>
        <p:spPr>
          <a:xfrm>
            <a:off x="457200" y="1117600"/>
            <a:ext cx="8229600" cy="369332"/>
          </a:xfrm>
          <a:prstGeom prst="rect">
            <a:avLst/>
          </a:prstGeom>
          <a:noFill/>
        </p:spPr>
        <p:txBody>
          <a:bodyPr wrap="square" rtlCol="0">
            <a:spAutoFit/>
          </a:bodyPr>
          <a:lstStyle/>
          <a:p>
            <a:r>
              <a:rPr lang="en-US"/>
              <a:t>Combine a complex health simulation with a simple appraisal interface</a:t>
            </a:r>
          </a:p>
        </p:txBody>
      </p:sp>
      <p:sp>
        <p:nvSpPr>
          <p:cNvPr id="13" name="TextBox 12">
            <a:extLst>
              <a:ext uri="{FF2B5EF4-FFF2-40B4-BE49-F238E27FC236}">
                <a16:creationId xmlns:a16="http://schemas.microsoft.com/office/drawing/2014/main" id="{FD7C4670-DFB0-26A5-E8DB-72928459298C}"/>
              </a:ext>
            </a:extLst>
          </p:cNvPr>
          <p:cNvSpPr txBox="1"/>
          <p:nvPr/>
        </p:nvSpPr>
        <p:spPr>
          <a:xfrm>
            <a:off x="838200" y="2971800"/>
            <a:ext cx="2692400" cy="355600"/>
          </a:xfrm>
          <a:prstGeom prst="rect">
            <a:avLst/>
          </a:prstGeom>
          <a:noFill/>
        </p:spPr>
        <p:txBody>
          <a:bodyPr wrap="square" rtlCol="0">
            <a:spAutoFit/>
          </a:bodyPr>
          <a:lstStyle/>
          <a:p>
            <a:r>
              <a:rPr lang="en-US" sz="1000"/>
              <a:t>How to insert details without overloading?</a:t>
            </a:r>
          </a:p>
        </p:txBody>
      </p:sp>
      <p:pic>
        <p:nvPicPr>
          <p:cNvPr id="14" name="Picture 13">
            <a:extLst>
              <a:ext uri="{FF2B5EF4-FFF2-40B4-BE49-F238E27FC236}">
                <a16:creationId xmlns:a16="http://schemas.microsoft.com/office/drawing/2014/main" id="{D5E8C50F-F2A2-8BB5-2D1E-4619253B60BE}"/>
              </a:ext>
            </a:extLst>
          </p:cNvPr>
          <p:cNvPicPr>
            <a:picLocks noChangeAspect="1"/>
          </p:cNvPicPr>
          <p:nvPr/>
        </p:nvPicPr>
        <p:blipFill>
          <a:blip r:embed="rId2"/>
          <a:stretch>
            <a:fillRect/>
          </a:stretch>
        </p:blipFill>
        <p:spPr>
          <a:xfrm>
            <a:off x="5885137" y="3935843"/>
            <a:ext cx="2604407" cy="1134717"/>
          </a:xfrm>
          <a:prstGeom prst="rect">
            <a:avLst/>
          </a:prstGeom>
        </p:spPr>
      </p:pic>
    </p:spTree>
    <p:extLst>
      <p:ext uri="{BB962C8B-B14F-4D97-AF65-F5344CB8AC3E}">
        <p14:creationId xmlns:p14="http://schemas.microsoft.com/office/powerpoint/2010/main" val="2226325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EA953-2F50-A99E-1286-DC6E1CF27099}"/>
              </a:ext>
            </a:extLst>
          </p:cNvPr>
          <p:cNvSpPr>
            <a:spLocks noGrp="1"/>
          </p:cNvSpPr>
          <p:nvPr>
            <p:ph type="title"/>
          </p:nvPr>
        </p:nvSpPr>
        <p:spPr/>
        <p:txBody>
          <a:bodyPr>
            <a:normAutofit/>
          </a:bodyPr>
          <a:lstStyle/>
          <a:p>
            <a:r>
              <a:rPr lang="en-US"/>
              <a:t>Tool Layout (Workflow)</a:t>
            </a:r>
          </a:p>
        </p:txBody>
      </p:sp>
      <p:sp>
        <p:nvSpPr>
          <p:cNvPr id="3" name="Content Placeholder 2">
            <a:extLst>
              <a:ext uri="{FF2B5EF4-FFF2-40B4-BE49-F238E27FC236}">
                <a16:creationId xmlns:a16="http://schemas.microsoft.com/office/drawing/2014/main" id="{AF6FFAD9-F53F-ABBE-A6C1-7F31FE08931E}"/>
              </a:ext>
            </a:extLst>
          </p:cNvPr>
          <p:cNvSpPr>
            <a:spLocks noGrp="1"/>
          </p:cNvSpPr>
          <p:nvPr>
            <p:ph idx="1"/>
          </p:nvPr>
        </p:nvSpPr>
        <p:spPr/>
        <p:txBody>
          <a:bodyPr/>
          <a:lstStyle/>
          <a:p>
            <a:endParaRPr lang="en-US"/>
          </a:p>
        </p:txBody>
      </p:sp>
      <p:sp>
        <p:nvSpPr>
          <p:cNvPr id="4" name="Rounded Rectangle 3">
            <a:extLst>
              <a:ext uri="{FF2B5EF4-FFF2-40B4-BE49-F238E27FC236}">
                <a16:creationId xmlns:a16="http://schemas.microsoft.com/office/drawing/2014/main" id="{6CC92393-BC92-6973-8D34-8D28BF25DCF7}"/>
              </a:ext>
            </a:extLst>
          </p:cNvPr>
          <p:cNvSpPr/>
          <p:nvPr/>
        </p:nvSpPr>
        <p:spPr>
          <a:xfrm>
            <a:off x="1524257" y="870812"/>
            <a:ext cx="6096251" cy="84551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a:t>Main user input: </a:t>
            </a:r>
            <a:r>
              <a:rPr lang="en-US" sz="1200" b="1"/>
              <a:t>Active travel volume</a:t>
            </a:r>
            <a:br>
              <a:rPr lang="en-US" sz="1200"/>
            </a:br>
            <a:r>
              <a:rPr lang="en-US" sz="1200"/>
              <a:t>Users – Trips – Dist/dur. – Mode shares</a:t>
            </a:r>
            <a:br>
              <a:rPr lang="en-US" sz="1200"/>
            </a:br>
            <a:r>
              <a:rPr lang="en-US" sz="1200"/>
              <a:t>Reference and Counterfactual</a:t>
            </a:r>
          </a:p>
        </p:txBody>
      </p:sp>
      <p:sp>
        <p:nvSpPr>
          <p:cNvPr id="5" name="Rounded Rectangle 4">
            <a:extLst>
              <a:ext uri="{FF2B5EF4-FFF2-40B4-BE49-F238E27FC236}">
                <a16:creationId xmlns:a16="http://schemas.microsoft.com/office/drawing/2014/main" id="{D6F1B0E4-2382-EAC0-9196-B7FAC5C5D7CA}"/>
              </a:ext>
            </a:extLst>
          </p:cNvPr>
          <p:cNvSpPr/>
          <p:nvPr/>
        </p:nvSpPr>
        <p:spPr>
          <a:xfrm>
            <a:off x="1906815" y="2256912"/>
            <a:ext cx="5713693" cy="54700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ln>
                  <a:solidFill>
                    <a:schemeClr val="accent1"/>
                  </a:solidFill>
                </a:ln>
              </a:rPr>
              <a:t>Advanced users: Refine scope and characteristics of assessed individuals and trips</a:t>
            </a:r>
          </a:p>
        </p:txBody>
      </p:sp>
      <p:sp>
        <p:nvSpPr>
          <p:cNvPr id="8" name="Can 7">
            <a:extLst>
              <a:ext uri="{FF2B5EF4-FFF2-40B4-BE49-F238E27FC236}">
                <a16:creationId xmlns:a16="http://schemas.microsoft.com/office/drawing/2014/main" id="{30ED53BF-AEE3-20FD-48F4-043CB0B6771A}"/>
              </a:ext>
            </a:extLst>
          </p:cNvPr>
          <p:cNvSpPr/>
          <p:nvPr/>
        </p:nvSpPr>
        <p:spPr>
          <a:xfrm>
            <a:off x="1524257" y="2918777"/>
            <a:ext cx="6096249" cy="722540"/>
          </a:xfrm>
          <a:prstGeom prst="can">
            <a:avLst>
              <a:gd name="adj" fmla="val 10311"/>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200"/>
              <a:t>Tool samples individuals and trips from source data, </a:t>
            </a:r>
            <a:br>
              <a:rPr lang="en-US" sz="1200"/>
            </a:br>
            <a:r>
              <a:rPr lang="en-US" sz="1200"/>
              <a:t>switches trips to active travel, recalculates physical activity, rejoins health outcomes</a:t>
            </a:r>
          </a:p>
        </p:txBody>
      </p:sp>
      <p:pic>
        <p:nvPicPr>
          <p:cNvPr id="9" name="Picture 8">
            <a:extLst>
              <a:ext uri="{FF2B5EF4-FFF2-40B4-BE49-F238E27FC236}">
                <a16:creationId xmlns:a16="http://schemas.microsoft.com/office/drawing/2014/main" id="{A7E88F29-011E-9A68-B04C-97BB15255FF8}"/>
              </a:ext>
            </a:extLst>
          </p:cNvPr>
          <p:cNvPicPr>
            <a:picLocks noChangeAspect="1"/>
          </p:cNvPicPr>
          <p:nvPr/>
        </p:nvPicPr>
        <p:blipFill rotWithShape="1">
          <a:blip r:embed="rId3"/>
          <a:srcRect t="16872"/>
          <a:stretch/>
        </p:blipFill>
        <p:spPr>
          <a:xfrm>
            <a:off x="2540000" y="3708400"/>
            <a:ext cx="4064000" cy="927100"/>
          </a:xfrm>
          <a:prstGeom prst="rect">
            <a:avLst/>
          </a:prstGeom>
        </p:spPr>
      </p:pic>
      <p:sp>
        <p:nvSpPr>
          <p:cNvPr id="10" name="Predefined Process 9">
            <a:extLst>
              <a:ext uri="{FF2B5EF4-FFF2-40B4-BE49-F238E27FC236}">
                <a16:creationId xmlns:a16="http://schemas.microsoft.com/office/drawing/2014/main" id="{73BDA2D7-ED7B-638C-A17A-50ECACE6E019}"/>
              </a:ext>
            </a:extLst>
          </p:cNvPr>
          <p:cNvSpPr/>
          <p:nvPr/>
        </p:nvSpPr>
        <p:spPr>
          <a:xfrm>
            <a:off x="1524257" y="4710838"/>
            <a:ext cx="6096249" cy="293869"/>
          </a:xfrm>
          <a:prstGeom prst="flowChartPredefined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Health impact = CF - REF</a:t>
            </a:r>
          </a:p>
        </p:txBody>
      </p:sp>
      <p:sp>
        <p:nvSpPr>
          <p:cNvPr id="11" name="Can 10">
            <a:extLst>
              <a:ext uri="{FF2B5EF4-FFF2-40B4-BE49-F238E27FC236}">
                <a16:creationId xmlns:a16="http://schemas.microsoft.com/office/drawing/2014/main" id="{63D23C5A-FDF3-3E16-F04A-502C689591C4}"/>
              </a:ext>
            </a:extLst>
          </p:cNvPr>
          <p:cNvSpPr/>
          <p:nvPr/>
        </p:nvSpPr>
        <p:spPr>
          <a:xfrm>
            <a:off x="1524257" y="1753070"/>
            <a:ext cx="6096249" cy="438574"/>
          </a:xfrm>
          <a:prstGeom prst="can">
            <a:avLst>
              <a:gd name="adj" fmla="val 11822"/>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200"/>
              <a:t>Tool estimates number of individuals and trips </a:t>
            </a:r>
            <a:br>
              <a:rPr lang="en-US" sz="1200"/>
            </a:br>
            <a:r>
              <a:rPr lang="en-US" sz="1200"/>
              <a:t>based on user inputs and assumptions</a:t>
            </a:r>
          </a:p>
        </p:txBody>
      </p:sp>
      <p:sp>
        <p:nvSpPr>
          <p:cNvPr id="13" name="Rounded Rectangle 12">
            <a:extLst>
              <a:ext uri="{FF2B5EF4-FFF2-40B4-BE49-F238E27FC236}">
                <a16:creationId xmlns:a16="http://schemas.microsoft.com/office/drawing/2014/main" id="{93FF05CD-CED3-B81D-D04A-12559A1DF4B2}"/>
              </a:ext>
            </a:extLst>
          </p:cNvPr>
          <p:cNvSpPr/>
          <p:nvPr/>
        </p:nvSpPr>
        <p:spPr>
          <a:xfrm>
            <a:off x="1524257" y="1716328"/>
            <a:ext cx="6096249" cy="2994510"/>
          </a:xfrm>
          <a:prstGeom prst="roundRect">
            <a:avLst>
              <a:gd name="adj" fmla="val 3289"/>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70200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10" grpId="0" animBg="1"/>
      <p:bldP spid="11"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F6C1F-5DA4-91DA-DE17-365E2599DA06}"/>
              </a:ext>
            </a:extLst>
          </p:cNvPr>
          <p:cNvSpPr>
            <a:spLocks noGrp="1"/>
          </p:cNvSpPr>
          <p:nvPr>
            <p:ph type="title"/>
          </p:nvPr>
        </p:nvSpPr>
        <p:spPr/>
        <p:txBody>
          <a:bodyPr/>
          <a:lstStyle/>
          <a:p>
            <a:r>
              <a:rPr lang="en-US"/>
              <a:t>Tool layout: Tabs 1 and 2</a:t>
            </a:r>
          </a:p>
        </p:txBody>
      </p:sp>
      <p:sp>
        <p:nvSpPr>
          <p:cNvPr id="3" name="Content Placeholder 2">
            <a:extLst>
              <a:ext uri="{FF2B5EF4-FFF2-40B4-BE49-F238E27FC236}">
                <a16:creationId xmlns:a16="http://schemas.microsoft.com/office/drawing/2014/main" id="{80C712AC-6E98-9522-8F28-0D8545954F56}"/>
              </a:ext>
            </a:extLst>
          </p:cNvPr>
          <p:cNvSpPr>
            <a:spLocks noGrp="1"/>
          </p:cNvSpPr>
          <p:nvPr>
            <p:ph idx="1"/>
          </p:nvPr>
        </p:nvSpPr>
        <p:spPr/>
        <p:txBody>
          <a:bodyPr/>
          <a:lstStyle/>
          <a:p>
            <a:pPr marL="177800" indent="-177800"/>
            <a:r>
              <a:rPr lang="en-US" sz="1800" b="1"/>
              <a:t>Tab1: Define scope of appraisal </a:t>
            </a:r>
            <a:r>
              <a:rPr lang="en-US" sz="1800" b="1">
                <a:solidFill>
                  <a:schemeClr val="tx1">
                    <a:lumMod val="65000"/>
                    <a:lumOff val="35000"/>
                  </a:schemeClr>
                </a:solidFill>
              </a:rPr>
              <a:t>(not shown on the left)</a:t>
            </a:r>
          </a:p>
          <a:p>
            <a:pPr marL="349250" lvl="1" indent="-114300"/>
            <a:r>
              <a:rPr lang="en-US" sz="1400"/>
              <a:t>Basic or </a:t>
            </a:r>
            <a:r>
              <a:rPr lang="en-US" sz="1400">
                <a:solidFill>
                  <a:schemeClr val="accent1"/>
                </a:solidFill>
              </a:rPr>
              <a:t>advanced</a:t>
            </a:r>
          </a:p>
          <a:p>
            <a:pPr marL="349250" lvl="1" indent="-114300"/>
            <a:r>
              <a:rPr lang="en-US" sz="1400"/>
              <a:t>Geographic source population/data (LAD)</a:t>
            </a:r>
          </a:p>
          <a:p>
            <a:pPr marL="349250" lvl="1" indent="-114300"/>
            <a:r>
              <a:rPr lang="en-US" sz="1400"/>
              <a:t>Active modes assessed</a:t>
            </a:r>
          </a:p>
          <a:p>
            <a:pPr marL="177800" indent="-177800"/>
            <a:r>
              <a:rPr lang="en-US" sz="1800" b="1"/>
              <a:t>Tab2: Provide “active travel volume” – 4 input unit options</a:t>
            </a:r>
          </a:p>
          <a:p>
            <a:pPr marL="349250" lvl="1" indent="-114300"/>
            <a:r>
              <a:rPr lang="en-US" sz="1400"/>
              <a:t>Basic workflow: </a:t>
            </a:r>
          </a:p>
          <a:p>
            <a:pPr marL="463550" lvl="2" indent="-114300"/>
            <a:r>
              <a:rPr lang="en-US" sz="1400"/>
              <a:t>Optionally specify population size (number of mode users)</a:t>
            </a:r>
          </a:p>
          <a:p>
            <a:pPr marL="463550" lvl="2" indent="-114300"/>
            <a:r>
              <a:rPr lang="en-US" sz="1400"/>
              <a:t>Optionally review assumptions (parameter values)</a:t>
            </a:r>
          </a:p>
          <a:p>
            <a:pPr marL="349250" lvl="1" indent="-114300"/>
            <a:r>
              <a:rPr lang="en-US" sz="1400">
                <a:solidFill>
                  <a:schemeClr val="accent1"/>
                </a:solidFill>
              </a:rPr>
              <a:t>Advanced workflow: </a:t>
            </a:r>
          </a:p>
          <a:p>
            <a:pPr marL="463550" lvl="2" indent="-114300"/>
            <a:r>
              <a:rPr lang="en-US" sz="1400">
                <a:solidFill>
                  <a:schemeClr val="accent1"/>
                </a:solidFill>
              </a:rPr>
              <a:t>Refine population and trips data scope and distributions (Tab3 and Tab4)</a:t>
            </a:r>
          </a:p>
        </p:txBody>
      </p:sp>
    </p:spTree>
    <p:extLst>
      <p:ext uri="{BB962C8B-B14F-4D97-AF65-F5344CB8AC3E}">
        <p14:creationId xmlns:p14="http://schemas.microsoft.com/office/powerpoint/2010/main" val="3558205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49B79-247E-0279-D825-E19A58EC7BCE}"/>
              </a:ext>
            </a:extLst>
          </p:cNvPr>
          <p:cNvSpPr>
            <a:spLocks noGrp="1"/>
          </p:cNvSpPr>
          <p:nvPr>
            <p:ph type="title"/>
          </p:nvPr>
        </p:nvSpPr>
        <p:spPr/>
        <p:txBody>
          <a:bodyPr/>
          <a:lstStyle/>
          <a:p>
            <a:r>
              <a:rPr lang="en-US"/>
              <a:t>Tool layout: Tabs 3 to 5</a:t>
            </a:r>
          </a:p>
        </p:txBody>
      </p:sp>
      <p:sp>
        <p:nvSpPr>
          <p:cNvPr id="3" name="Content Placeholder 2">
            <a:extLst>
              <a:ext uri="{FF2B5EF4-FFF2-40B4-BE49-F238E27FC236}">
                <a16:creationId xmlns:a16="http://schemas.microsoft.com/office/drawing/2014/main" id="{6F354379-2DA1-2BC6-C503-1758555F1DE2}"/>
              </a:ext>
            </a:extLst>
          </p:cNvPr>
          <p:cNvSpPr>
            <a:spLocks noGrp="1"/>
          </p:cNvSpPr>
          <p:nvPr>
            <p:ph idx="1"/>
          </p:nvPr>
        </p:nvSpPr>
        <p:spPr/>
        <p:txBody>
          <a:bodyPr/>
          <a:lstStyle/>
          <a:p>
            <a:pPr marL="177800" indent="-177800"/>
            <a:r>
              <a:rPr lang="en-US" sz="1800" b="1">
                <a:solidFill>
                  <a:schemeClr val="accent1"/>
                </a:solidFill>
              </a:rPr>
              <a:t>Tab3: Refine “who is changing their travel behaviour”</a:t>
            </a:r>
          </a:p>
          <a:p>
            <a:pPr marL="349250" lvl="1" indent="-114300"/>
            <a:r>
              <a:rPr lang="en-US" sz="1400">
                <a:solidFill>
                  <a:schemeClr val="accent1"/>
                </a:solidFill>
              </a:rPr>
              <a:t>Optionally edit the </a:t>
            </a:r>
            <a:r>
              <a:rPr lang="en-US" sz="1400" b="1">
                <a:solidFill>
                  <a:schemeClr val="accent1"/>
                </a:solidFill>
              </a:rPr>
              <a:t>size</a:t>
            </a:r>
            <a:r>
              <a:rPr lang="en-US" sz="1400">
                <a:solidFill>
                  <a:schemeClr val="accent1"/>
                </a:solidFill>
              </a:rPr>
              <a:t> of the REF and CF population by mode, manually or with sliders.</a:t>
            </a:r>
          </a:p>
          <a:p>
            <a:pPr marL="349250" lvl="1" indent="-114300"/>
            <a:r>
              <a:rPr lang="en-US" sz="1400">
                <a:solidFill>
                  <a:schemeClr val="accent1"/>
                </a:solidFill>
              </a:rPr>
              <a:t>Optionally edit their </a:t>
            </a:r>
            <a:r>
              <a:rPr lang="en-US" sz="1400" b="1">
                <a:solidFill>
                  <a:schemeClr val="accent1"/>
                </a:solidFill>
              </a:rPr>
              <a:t>characteristics</a:t>
            </a:r>
            <a:r>
              <a:rPr lang="en-US" sz="1400">
                <a:solidFill>
                  <a:schemeClr val="accent1"/>
                </a:solidFill>
              </a:rPr>
              <a:t>: age, gender and physical activity.</a:t>
            </a:r>
          </a:p>
          <a:p>
            <a:pPr marL="177800" indent="-177800"/>
            <a:r>
              <a:rPr lang="en-US" sz="1800" b="1">
                <a:solidFill>
                  <a:schemeClr val="accent1"/>
                </a:solidFill>
              </a:rPr>
              <a:t>Tab4: Refine “which trips are switching mode”</a:t>
            </a:r>
          </a:p>
          <a:p>
            <a:pPr marL="349250" lvl="1" indent="-114300"/>
            <a:r>
              <a:rPr lang="en-US" sz="1400">
                <a:solidFill>
                  <a:schemeClr val="accent1"/>
                </a:solidFill>
              </a:rPr>
              <a:t>Optionally edit the </a:t>
            </a:r>
            <a:r>
              <a:rPr lang="en-US" sz="1400" b="1">
                <a:solidFill>
                  <a:schemeClr val="accent1"/>
                </a:solidFill>
              </a:rPr>
              <a:t>size</a:t>
            </a:r>
            <a:r>
              <a:rPr lang="en-US" sz="1400">
                <a:solidFill>
                  <a:schemeClr val="accent1"/>
                </a:solidFill>
              </a:rPr>
              <a:t> of the REF and CF trips, in total and by mode.</a:t>
            </a:r>
          </a:p>
          <a:p>
            <a:pPr marL="349250" lvl="1" indent="-114300"/>
            <a:r>
              <a:rPr lang="en-US" sz="1400">
                <a:solidFill>
                  <a:schemeClr val="accent1"/>
                </a:solidFill>
              </a:rPr>
              <a:t>Optionally edit their </a:t>
            </a:r>
            <a:r>
              <a:rPr lang="en-US" sz="1400" b="1">
                <a:solidFill>
                  <a:schemeClr val="accent1"/>
                </a:solidFill>
              </a:rPr>
              <a:t>characteristics</a:t>
            </a:r>
            <a:r>
              <a:rPr lang="en-US" sz="1400">
                <a:solidFill>
                  <a:schemeClr val="accent1"/>
                </a:solidFill>
              </a:rPr>
              <a:t>: distance distribution and mode diversion rates.</a:t>
            </a:r>
          </a:p>
          <a:p>
            <a:pPr marL="349250" lvl="1" indent="-114300"/>
            <a:r>
              <a:rPr lang="en-US" sz="1400">
                <a:solidFill>
                  <a:schemeClr val="accent1"/>
                </a:solidFill>
              </a:rPr>
              <a:t>Sliders offer percentage reduction, trip distance and mode shift.</a:t>
            </a:r>
          </a:p>
          <a:p>
            <a:pPr marL="177800" indent="-177800"/>
            <a:r>
              <a:rPr lang="en-US" sz="1800" b="1"/>
              <a:t>Tab5: Results</a:t>
            </a:r>
          </a:p>
          <a:p>
            <a:pPr marL="349250" lvl="1" indent="-114300"/>
            <a:r>
              <a:rPr lang="en-US" sz="1400"/>
              <a:t>Basic: main results and export options.</a:t>
            </a:r>
          </a:p>
          <a:p>
            <a:pPr marL="349250" lvl="1" indent="-114300"/>
            <a:r>
              <a:rPr lang="en-US" sz="1400">
                <a:solidFill>
                  <a:schemeClr val="accent1"/>
                </a:solidFill>
              </a:rPr>
              <a:t>Advanced: basic plus interactive plots for results exploration.</a:t>
            </a:r>
          </a:p>
        </p:txBody>
      </p:sp>
    </p:spTree>
    <p:extLst>
      <p:ext uri="{BB962C8B-B14F-4D97-AF65-F5344CB8AC3E}">
        <p14:creationId xmlns:p14="http://schemas.microsoft.com/office/powerpoint/2010/main" val="1554346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redefined Process 3">
            <a:extLst>
              <a:ext uri="{FF2B5EF4-FFF2-40B4-BE49-F238E27FC236}">
                <a16:creationId xmlns:a16="http://schemas.microsoft.com/office/drawing/2014/main" id="{EB97539F-C70E-E6CD-F68C-7400AE03C54B}"/>
              </a:ext>
            </a:extLst>
          </p:cNvPr>
          <p:cNvSpPr/>
          <p:nvPr/>
        </p:nvSpPr>
        <p:spPr>
          <a:xfrm>
            <a:off x="457200" y="1063229"/>
            <a:ext cx="8229600" cy="834345"/>
          </a:xfrm>
          <a:prstGeom prst="flowChartPredefinedProcess">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a:t>Real Population</a:t>
            </a:r>
            <a:br>
              <a:rPr lang="en-US"/>
            </a:br>
            <a:r>
              <a:rPr lang="en-US"/>
              <a:t>(Entire LAD pop)</a:t>
            </a:r>
            <a:br>
              <a:rPr lang="en-US"/>
            </a:br>
            <a:r>
              <a:rPr lang="en-US"/>
              <a:t>Leeds: 800k</a:t>
            </a:r>
          </a:p>
        </p:txBody>
      </p:sp>
      <p:sp>
        <p:nvSpPr>
          <p:cNvPr id="2" name="Title 1">
            <a:extLst>
              <a:ext uri="{FF2B5EF4-FFF2-40B4-BE49-F238E27FC236}">
                <a16:creationId xmlns:a16="http://schemas.microsoft.com/office/drawing/2014/main" id="{8E32EA5B-460B-1156-A9D5-3D93D1394E5E}"/>
              </a:ext>
            </a:extLst>
          </p:cNvPr>
          <p:cNvSpPr>
            <a:spLocks noGrp="1"/>
          </p:cNvSpPr>
          <p:nvPr>
            <p:ph type="title"/>
          </p:nvPr>
        </p:nvSpPr>
        <p:spPr/>
        <p:txBody>
          <a:bodyPr/>
          <a:lstStyle/>
          <a:p>
            <a:r>
              <a:rPr lang="en-US"/>
              <a:t>Overview of data (Individuals + Trips)</a:t>
            </a:r>
          </a:p>
        </p:txBody>
      </p:sp>
      <p:sp>
        <p:nvSpPr>
          <p:cNvPr id="3" name="Predefined Process 2">
            <a:extLst>
              <a:ext uri="{FF2B5EF4-FFF2-40B4-BE49-F238E27FC236}">
                <a16:creationId xmlns:a16="http://schemas.microsoft.com/office/drawing/2014/main" id="{F68A9659-32F1-A20C-9055-0163FDBD45A4}"/>
              </a:ext>
            </a:extLst>
          </p:cNvPr>
          <p:cNvSpPr/>
          <p:nvPr/>
        </p:nvSpPr>
        <p:spPr>
          <a:xfrm>
            <a:off x="457199" y="2074977"/>
            <a:ext cx="4672739"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Synthetic pop. (Source data)</a:t>
            </a:r>
            <a:br>
              <a:rPr lang="en-US"/>
            </a:br>
            <a:r>
              <a:rPr lang="en-US"/>
              <a:t>(1:20, (1:120))</a:t>
            </a:r>
          </a:p>
        </p:txBody>
      </p:sp>
      <p:sp>
        <p:nvSpPr>
          <p:cNvPr id="5" name="Predefined Process 4">
            <a:extLst>
              <a:ext uri="{FF2B5EF4-FFF2-40B4-BE49-F238E27FC236}">
                <a16:creationId xmlns:a16="http://schemas.microsoft.com/office/drawing/2014/main" id="{E1B9DFA3-CE32-C514-D482-D00ED32FE975}"/>
              </a:ext>
            </a:extLst>
          </p:cNvPr>
          <p:cNvSpPr/>
          <p:nvPr/>
        </p:nvSpPr>
        <p:spPr>
          <a:xfrm>
            <a:off x="457199" y="3086725"/>
            <a:ext cx="2797445"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Reference Data </a:t>
            </a:r>
            <a:br>
              <a:rPr lang="en-US"/>
            </a:br>
            <a:r>
              <a:rPr lang="en-US"/>
              <a:t>(Entire or sub pop)</a:t>
            </a:r>
          </a:p>
        </p:txBody>
      </p:sp>
      <p:sp>
        <p:nvSpPr>
          <p:cNvPr id="6" name="Predefined Process 5">
            <a:extLst>
              <a:ext uri="{FF2B5EF4-FFF2-40B4-BE49-F238E27FC236}">
                <a16:creationId xmlns:a16="http://schemas.microsoft.com/office/drawing/2014/main" id="{1BB5C68B-1251-DD40-0B79-C40B3808940A}"/>
              </a:ext>
            </a:extLst>
          </p:cNvPr>
          <p:cNvSpPr/>
          <p:nvPr/>
        </p:nvSpPr>
        <p:spPr>
          <a:xfrm>
            <a:off x="457199" y="4098473"/>
            <a:ext cx="3091913"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Counterfactual Data </a:t>
            </a:r>
            <a:br>
              <a:rPr lang="en-US"/>
            </a:br>
            <a:r>
              <a:rPr lang="en-US"/>
              <a:t>(+- REF)</a:t>
            </a:r>
          </a:p>
        </p:txBody>
      </p:sp>
    </p:spTree>
    <p:extLst>
      <p:ext uri="{BB962C8B-B14F-4D97-AF65-F5344CB8AC3E}">
        <p14:creationId xmlns:p14="http://schemas.microsoft.com/office/powerpoint/2010/main" val="380196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Source population</a:t>
            </a:r>
            <a:r>
              <a:rPr lang="en-US"/>
              <a:t> =&gt;</a:t>
            </a:r>
            <a:r>
              <a:t> REF </a:t>
            </a:r>
            <a:r>
              <a:rPr lang="en-US"/>
              <a:t>=&gt;</a:t>
            </a:r>
            <a:r>
              <a:t> CF</a:t>
            </a:r>
            <a:r>
              <a:rPr lang="en-US"/>
              <a:t> &lt;- intervention</a:t>
            </a:r>
            <a:endParaRPr/>
          </a:p>
        </p:txBody>
      </p:sp>
      <p:sp>
        <p:nvSpPr>
          <p:cNvPr id="4" name="Content Placeholder 3">
            <a:extLst>
              <a:ext uri="{FF2B5EF4-FFF2-40B4-BE49-F238E27FC236}">
                <a16:creationId xmlns:a16="http://schemas.microsoft.com/office/drawing/2014/main" id="{A4B6FF86-84EF-3867-9C4C-993A887BA516}"/>
              </a:ext>
            </a:extLst>
          </p:cNvPr>
          <p:cNvSpPr>
            <a:spLocks noGrp="1"/>
          </p:cNvSpPr>
          <p:nvPr>
            <p:ph idx="1"/>
          </p:nvPr>
        </p:nvSpPr>
        <p:spPr/>
        <p:txBody>
          <a:bodyPr/>
          <a:lstStyle/>
          <a:p>
            <a:endParaRPr lang="en-US"/>
          </a:p>
        </p:txBody>
      </p:sp>
      <p:pic>
        <p:nvPicPr>
          <p:cNvPr id="3" name="Picture 1" descr="source_ref_cf_diagram.png"/>
          <p:cNvPicPr>
            <a:picLocks noGrp="1" noChangeAspect="1"/>
          </p:cNvPicPr>
          <p:nvPr/>
        </p:nvPicPr>
        <p:blipFill>
          <a:blip r:embed="rId3"/>
          <a:stretch>
            <a:fillRect/>
          </a:stretch>
        </p:blipFill>
        <p:spPr bwMode="auto">
          <a:xfrm>
            <a:off x="1181100" y="1664065"/>
            <a:ext cx="6781800" cy="3390900"/>
          </a:xfrm>
          <a:prstGeom prst="rect">
            <a:avLst/>
          </a:prstGeom>
          <a:noFill/>
          <a:ln w="9525">
            <a:noFill/>
            <a:headEnd/>
            <a:tailEnd/>
          </a:ln>
        </p:spPr>
      </p:pic>
      <p:sp>
        <p:nvSpPr>
          <p:cNvPr id="8" name="TextBox 7">
            <a:extLst>
              <a:ext uri="{FF2B5EF4-FFF2-40B4-BE49-F238E27FC236}">
                <a16:creationId xmlns:a16="http://schemas.microsoft.com/office/drawing/2014/main" id="{AC40247D-D0A0-D0D4-7B1F-4D81E573192B}"/>
              </a:ext>
            </a:extLst>
          </p:cNvPr>
          <p:cNvSpPr txBox="1"/>
          <p:nvPr/>
        </p:nvSpPr>
        <p:spPr>
          <a:xfrm>
            <a:off x="300446" y="1063229"/>
            <a:ext cx="8543108" cy="369332"/>
          </a:xfrm>
          <a:prstGeom prst="rect">
            <a:avLst/>
          </a:prstGeom>
          <a:noFill/>
        </p:spPr>
        <p:txBody>
          <a:bodyPr wrap="square" rtlCol="0">
            <a:spAutoFit/>
          </a:bodyPr>
          <a:lstStyle/>
          <a:p>
            <a:r>
              <a:rPr lang="en-US"/>
              <a:t>With the tool we collect information to sample REF and CF</a:t>
            </a:r>
          </a:p>
        </p:txBody>
      </p:sp>
    </p:spTree>
    <p:extLst>
      <p:ext uri="{BB962C8B-B14F-4D97-AF65-F5344CB8AC3E}">
        <p14:creationId xmlns:p14="http://schemas.microsoft.com/office/powerpoint/2010/main" val="2341364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2115B-73DB-3F95-17CC-075A91046A33}"/>
              </a:ext>
            </a:extLst>
          </p:cNvPr>
          <p:cNvSpPr>
            <a:spLocks noGrp="1"/>
          </p:cNvSpPr>
          <p:nvPr>
            <p:ph type="title"/>
          </p:nvPr>
        </p:nvSpPr>
        <p:spPr/>
        <p:txBody>
          <a:bodyPr/>
          <a:lstStyle/>
          <a:p>
            <a:r>
              <a:rPr lang="en-US"/>
              <a:t>Walk through</a:t>
            </a:r>
          </a:p>
        </p:txBody>
      </p:sp>
      <p:sp>
        <p:nvSpPr>
          <p:cNvPr id="3" name="Content Placeholder 2">
            <a:extLst>
              <a:ext uri="{FF2B5EF4-FFF2-40B4-BE49-F238E27FC236}">
                <a16:creationId xmlns:a16="http://schemas.microsoft.com/office/drawing/2014/main" id="{04D02068-8132-DF06-EDFD-5F3C6E41AB48}"/>
              </a:ext>
            </a:extLst>
          </p:cNvPr>
          <p:cNvSpPr>
            <a:spLocks noGrp="1"/>
          </p:cNvSpPr>
          <p:nvPr>
            <p:ph idx="1"/>
          </p:nvPr>
        </p:nvSpPr>
        <p:spPr/>
        <p:txBody>
          <a:bodyPr/>
          <a:lstStyle/>
          <a:p>
            <a:r>
              <a:rPr lang="en-US">
                <a:hlinkClick r:id="rId2"/>
              </a:rPr>
              <a:t>https://hiq-miama-ui.share.connect.posit.cloud/</a:t>
            </a:r>
            <a:endParaRPr lang="en-US"/>
          </a:p>
          <a:p>
            <a:r>
              <a:rPr lang="en-US">
                <a:hlinkClick r:id="rId3"/>
              </a:rPr>
              <a:t>https://miamat.org/</a:t>
            </a:r>
            <a:r>
              <a:rPr lang="en-US"/>
              <a:t>  </a:t>
            </a:r>
          </a:p>
        </p:txBody>
      </p:sp>
    </p:spTree>
    <p:extLst>
      <p:ext uri="{BB962C8B-B14F-4D97-AF65-F5344CB8AC3E}">
        <p14:creationId xmlns:p14="http://schemas.microsoft.com/office/powerpoint/2010/main" val="3628844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Predefined Process 3">
            <a:extLst>
              <a:ext uri="{FF2B5EF4-FFF2-40B4-BE49-F238E27FC236}">
                <a16:creationId xmlns:a16="http://schemas.microsoft.com/office/drawing/2014/main" id="{EB97539F-C70E-E6CD-F68C-7400AE03C54B}"/>
              </a:ext>
            </a:extLst>
          </p:cNvPr>
          <p:cNvSpPr/>
          <p:nvPr/>
        </p:nvSpPr>
        <p:spPr>
          <a:xfrm>
            <a:off x="457200" y="1063229"/>
            <a:ext cx="8229600"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Real Population</a:t>
            </a:r>
            <a:br>
              <a:rPr lang="en-US"/>
            </a:br>
            <a:r>
              <a:rPr lang="en-US"/>
              <a:t>(Entire LAD pop)</a:t>
            </a:r>
            <a:br>
              <a:rPr lang="en-US"/>
            </a:br>
            <a:r>
              <a:rPr lang="en-US"/>
              <a:t>Leeds: 800k</a:t>
            </a:r>
          </a:p>
        </p:txBody>
      </p:sp>
      <p:sp>
        <p:nvSpPr>
          <p:cNvPr id="2" name="Title 1">
            <a:extLst>
              <a:ext uri="{FF2B5EF4-FFF2-40B4-BE49-F238E27FC236}">
                <a16:creationId xmlns:a16="http://schemas.microsoft.com/office/drawing/2014/main" id="{8E32EA5B-460B-1156-A9D5-3D93D1394E5E}"/>
              </a:ext>
            </a:extLst>
          </p:cNvPr>
          <p:cNvSpPr>
            <a:spLocks noGrp="1"/>
          </p:cNvSpPr>
          <p:nvPr>
            <p:ph type="title"/>
          </p:nvPr>
        </p:nvSpPr>
        <p:spPr/>
        <p:txBody>
          <a:bodyPr/>
          <a:lstStyle/>
          <a:p>
            <a:r>
              <a:rPr lang="en-US"/>
              <a:t>Source data for sampling Individuals + Trips</a:t>
            </a:r>
          </a:p>
        </p:txBody>
      </p:sp>
      <p:sp>
        <p:nvSpPr>
          <p:cNvPr id="3" name="Predefined Process 2">
            <a:extLst>
              <a:ext uri="{FF2B5EF4-FFF2-40B4-BE49-F238E27FC236}">
                <a16:creationId xmlns:a16="http://schemas.microsoft.com/office/drawing/2014/main" id="{F68A9659-32F1-A20C-9055-0163FDBD45A4}"/>
              </a:ext>
            </a:extLst>
          </p:cNvPr>
          <p:cNvSpPr/>
          <p:nvPr/>
        </p:nvSpPr>
        <p:spPr>
          <a:xfrm>
            <a:off x="457199" y="2074977"/>
            <a:ext cx="4672739"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Synthetic pop. (Source data)</a:t>
            </a:r>
            <a:br>
              <a:rPr lang="en-US"/>
            </a:br>
            <a:r>
              <a:rPr lang="en-US"/>
              <a:t>(1:20, (1:120))</a:t>
            </a:r>
          </a:p>
        </p:txBody>
      </p:sp>
      <p:sp>
        <p:nvSpPr>
          <p:cNvPr id="5" name="Predefined Process 4">
            <a:extLst>
              <a:ext uri="{FF2B5EF4-FFF2-40B4-BE49-F238E27FC236}">
                <a16:creationId xmlns:a16="http://schemas.microsoft.com/office/drawing/2014/main" id="{E1B9DFA3-CE32-C514-D482-D00ED32FE975}"/>
              </a:ext>
            </a:extLst>
          </p:cNvPr>
          <p:cNvSpPr/>
          <p:nvPr/>
        </p:nvSpPr>
        <p:spPr>
          <a:xfrm>
            <a:off x="457199" y="3077491"/>
            <a:ext cx="2797445" cy="655290"/>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Reference Data </a:t>
            </a:r>
            <a:br>
              <a:rPr lang="en-US"/>
            </a:br>
            <a:r>
              <a:rPr lang="en-US"/>
              <a:t>(Entire or sub pop)</a:t>
            </a:r>
          </a:p>
        </p:txBody>
      </p:sp>
      <p:sp>
        <p:nvSpPr>
          <p:cNvPr id="6" name="Predefined Process 5">
            <a:extLst>
              <a:ext uri="{FF2B5EF4-FFF2-40B4-BE49-F238E27FC236}">
                <a16:creationId xmlns:a16="http://schemas.microsoft.com/office/drawing/2014/main" id="{1BB5C68B-1251-DD40-0B79-C40B3808940A}"/>
              </a:ext>
            </a:extLst>
          </p:cNvPr>
          <p:cNvSpPr/>
          <p:nvPr/>
        </p:nvSpPr>
        <p:spPr>
          <a:xfrm>
            <a:off x="457199" y="4098473"/>
            <a:ext cx="2797445"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Counterfactual Data </a:t>
            </a:r>
            <a:br>
              <a:rPr lang="en-US"/>
            </a:br>
            <a:r>
              <a:rPr lang="en-US"/>
              <a:t>(+- REF)</a:t>
            </a:r>
          </a:p>
        </p:txBody>
      </p:sp>
      <p:grpSp>
        <p:nvGrpSpPr>
          <p:cNvPr id="28" name="Group 27">
            <a:extLst>
              <a:ext uri="{FF2B5EF4-FFF2-40B4-BE49-F238E27FC236}">
                <a16:creationId xmlns:a16="http://schemas.microsoft.com/office/drawing/2014/main" id="{7A5268D5-3134-960E-C025-379C0B0DB5FF}"/>
              </a:ext>
            </a:extLst>
          </p:cNvPr>
          <p:cNvGrpSpPr/>
          <p:nvPr/>
        </p:nvGrpSpPr>
        <p:grpSpPr>
          <a:xfrm>
            <a:off x="3358012" y="2909322"/>
            <a:ext cx="1186452" cy="655288"/>
            <a:chOff x="3358012" y="2909322"/>
            <a:chExt cx="1186452" cy="655288"/>
          </a:xfrm>
        </p:grpSpPr>
        <p:cxnSp>
          <p:nvCxnSpPr>
            <p:cNvPr id="8" name="Curved Connector 7">
              <a:extLst>
                <a:ext uri="{FF2B5EF4-FFF2-40B4-BE49-F238E27FC236}">
                  <a16:creationId xmlns:a16="http://schemas.microsoft.com/office/drawing/2014/main" id="{689781F7-CBB2-570D-DB82-AC5D4F47A66D}"/>
                </a:ext>
              </a:extLst>
            </p:cNvPr>
            <p:cNvCxnSpPr/>
            <p:nvPr/>
          </p:nvCxnSpPr>
          <p:spPr>
            <a:xfrm rot="10800000" flipV="1">
              <a:off x="3549113" y="2909322"/>
              <a:ext cx="681925" cy="655288"/>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D926B62-E632-560E-1DC7-CBECA0F2C998}"/>
                </a:ext>
              </a:extLst>
            </p:cNvPr>
            <p:cNvSpPr txBox="1"/>
            <p:nvPr/>
          </p:nvSpPr>
          <p:spPr>
            <a:xfrm>
              <a:off x="3358012" y="3086725"/>
              <a:ext cx="1186452" cy="276999"/>
            </a:xfrm>
            <a:prstGeom prst="rect">
              <a:avLst/>
            </a:prstGeom>
            <a:solidFill>
              <a:schemeClr val="bg1"/>
            </a:solidFill>
            <a:ln w="19050">
              <a:solidFill>
                <a:schemeClr val="accent1"/>
              </a:solidFill>
            </a:ln>
          </p:spPr>
          <p:txBody>
            <a:bodyPr wrap="square" rtlCol="0">
              <a:spAutoFit/>
            </a:bodyPr>
            <a:lstStyle/>
            <a:p>
              <a:pPr algn="ctr"/>
              <a:r>
                <a:rPr lang="en-US" sz="1200"/>
                <a:t>Primary source</a:t>
              </a:r>
            </a:p>
          </p:txBody>
        </p:sp>
      </p:grpSp>
      <p:sp>
        <p:nvSpPr>
          <p:cNvPr id="10" name="Predefined Process 9">
            <a:extLst>
              <a:ext uri="{FF2B5EF4-FFF2-40B4-BE49-F238E27FC236}">
                <a16:creationId xmlns:a16="http://schemas.microsoft.com/office/drawing/2014/main" id="{EEFE0AB2-8D81-9A28-1F73-98D5AFBC31D9}"/>
              </a:ext>
            </a:extLst>
          </p:cNvPr>
          <p:cNvSpPr/>
          <p:nvPr/>
        </p:nvSpPr>
        <p:spPr>
          <a:xfrm>
            <a:off x="5229096" y="2074977"/>
            <a:ext cx="1305018" cy="834345"/>
          </a:xfrm>
          <a:prstGeom prst="flowChartPredefinedProcess">
            <a:avLst/>
          </a:prstGeom>
          <a:ln>
            <a:prstDash val="sysDash"/>
          </a:ln>
        </p:spPr>
        <p:style>
          <a:lnRef idx="1">
            <a:schemeClr val="dk1"/>
          </a:lnRef>
          <a:fillRef idx="2">
            <a:schemeClr val="dk1"/>
          </a:fillRef>
          <a:effectRef idx="1">
            <a:schemeClr val="dk1"/>
          </a:effectRef>
          <a:fontRef idx="minor">
            <a:schemeClr val="dk1"/>
          </a:fontRef>
        </p:style>
        <p:txBody>
          <a:bodyPr rtlCol="0" anchor="ctr"/>
          <a:lstStyle/>
          <a:p>
            <a:pPr algn="ctr"/>
            <a:r>
              <a:rPr lang="en-US" sz="1400"/>
              <a:t>Duplicates if needed</a:t>
            </a:r>
          </a:p>
        </p:txBody>
      </p:sp>
      <p:sp>
        <p:nvSpPr>
          <p:cNvPr id="11" name="Predefined Process 10">
            <a:extLst>
              <a:ext uri="{FF2B5EF4-FFF2-40B4-BE49-F238E27FC236}">
                <a16:creationId xmlns:a16="http://schemas.microsoft.com/office/drawing/2014/main" id="{936952AC-12CE-9C86-526F-37F07DD30EC2}"/>
              </a:ext>
            </a:extLst>
          </p:cNvPr>
          <p:cNvSpPr/>
          <p:nvPr/>
        </p:nvSpPr>
        <p:spPr>
          <a:xfrm>
            <a:off x="3294519" y="4098473"/>
            <a:ext cx="1305018" cy="971548"/>
          </a:xfrm>
          <a:prstGeom prst="flowChartPredefinedProcess">
            <a:avLst/>
          </a:prstGeom>
          <a:ln>
            <a:prstDash val="sysDash"/>
          </a:ln>
        </p:spPr>
        <p:style>
          <a:lnRef idx="1">
            <a:schemeClr val="dk1"/>
          </a:lnRef>
          <a:fillRef idx="2">
            <a:schemeClr val="dk1"/>
          </a:fillRef>
          <a:effectRef idx="1">
            <a:schemeClr val="dk1"/>
          </a:effectRef>
          <a:fontRef idx="minor">
            <a:schemeClr val="dk1"/>
          </a:fontRef>
        </p:style>
        <p:txBody>
          <a:bodyPr rtlCol="0" anchor="ctr"/>
          <a:lstStyle/>
          <a:p>
            <a:pPr algn="ctr"/>
            <a:r>
              <a:rPr lang="en-US" sz="1200"/>
              <a:t>New users and induced trips if needed</a:t>
            </a:r>
          </a:p>
        </p:txBody>
      </p:sp>
      <p:sp>
        <p:nvSpPr>
          <p:cNvPr id="15" name="Right Brace 14">
            <a:extLst>
              <a:ext uri="{FF2B5EF4-FFF2-40B4-BE49-F238E27FC236}">
                <a16:creationId xmlns:a16="http://schemas.microsoft.com/office/drawing/2014/main" id="{C3CFBEB1-0171-5851-6A75-045D6F645FB9}"/>
              </a:ext>
            </a:extLst>
          </p:cNvPr>
          <p:cNvSpPr/>
          <p:nvPr/>
        </p:nvSpPr>
        <p:spPr>
          <a:xfrm rot="5400000">
            <a:off x="5526413" y="2284777"/>
            <a:ext cx="154938" cy="169180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3" name="Curved Connector 22">
            <a:extLst>
              <a:ext uri="{FF2B5EF4-FFF2-40B4-BE49-F238E27FC236}">
                <a16:creationId xmlns:a16="http://schemas.microsoft.com/office/drawing/2014/main" id="{A017771E-027D-96D1-5D65-6E8D9C51B98D}"/>
              </a:ext>
            </a:extLst>
          </p:cNvPr>
          <p:cNvCxnSpPr>
            <a:stCxn id="15" idx="1"/>
            <a:endCxn id="11" idx="3"/>
          </p:cNvCxnSpPr>
          <p:nvPr/>
        </p:nvCxnSpPr>
        <p:spPr>
          <a:xfrm rot="16200000" flipH="1" flipV="1">
            <a:off x="4413661" y="3394025"/>
            <a:ext cx="1376098" cy="1004345"/>
          </a:xfrm>
          <a:prstGeom prst="curvedConnector4">
            <a:avLst>
              <a:gd name="adj1" fmla="val 67042"/>
              <a:gd name="adj2" fmla="val -607"/>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0" name="Group 29">
            <a:extLst>
              <a:ext uri="{FF2B5EF4-FFF2-40B4-BE49-F238E27FC236}">
                <a16:creationId xmlns:a16="http://schemas.microsoft.com/office/drawing/2014/main" id="{876A46E1-A227-7A9B-7D96-AC3FE8017E49}"/>
              </a:ext>
            </a:extLst>
          </p:cNvPr>
          <p:cNvGrpSpPr/>
          <p:nvPr/>
        </p:nvGrpSpPr>
        <p:grpSpPr>
          <a:xfrm>
            <a:off x="1262165" y="3696040"/>
            <a:ext cx="1186452" cy="475907"/>
            <a:chOff x="3358012" y="3011936"/>
            <a:chExt cx="1186452" cy="475907"/>
          </a:xfrm>
        </p:grpSpPr>
        <p:cxnSp>
          <p:nvCxnSpPr>
            <p:cNvPr id="31" name="Curved Connector 30">
              <a:extLst>
                <a:ext uri="{FF2B5EF4-FFF2-40B4-BE49-F238E27FC236}">
                  <a16:creationId xmlns:a16="http://schemas.microsoft.com/office/drawing/2014/main" id="{2AF421E7-8188-ECEA-E0F0-7187728C265E}"/>
                </a:ext>
              </a:extLst>
            </p:cNvPr>
            <p:cNvCxnSpPr>
              <a:cxnSpLocks/>
            </p:cNvCxnSpPr>
            <p:nvPr/>
          </p:nvCxnSpPr>
          <p:spPr>
            <a:xfrm rot="10800000" flipV="1">
              <a:off x="3671556" y="3011936"/>
              <a:ext cx="616902" cy="475907"/>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DE8E32BF-7AA6-5C76-26A0-78C3E148AD20}"/>
                </a:ext>
              </a:extLst>
            </p:cNvPr>
            <p:cNvSpPr txBox="1"/>
            <p:nvPr/>
          </p:nvSpPr>
          <p:spPr>
            <a:xfrm>
              <a:off x="3358012" y="3086725"/>
              <a:ext cx="1186452" cy="276999"/>
            </a:xfrm>
            <a:prstGeom prst="rect">
              <a:avLst/>
            </a:prstGeom>
            <a:solidFill>
              <a:schemeClr val="bg1"/>
            </a:solidFill>
            <a:ln w="19050">
              <a:solidFill>
                <a:schemeClr val="accent1"/>
              </a:solidFill>
            </a:ln>
          </p:spPr>
          <p:txBody>
            <a:bodyPr wrap="square" rtlCol="0">
              <a:spAutoFit/>
            </a:bodyPr>
            <a:lstStyle/>
            <a:p>
              <a:pPr algn="ctr"/>
              <a:r>
                <a:rPr lang="en-US" sz="1200"/>
                <a:t>Primary source</a:t>
              </a:r>
            </a:p>
          </p:txBody>
        </p:sp>
      </p:grpSp>
    </p:spTree>
    <p:extLst>
      <p:ext uri="{BB962C8B-B14F-4D97-AF65-F5344CB8AC3E}">
        <p14:creationId xmlns:p14="http://schemas.microsoft.com/office/powerpoint/2010/main" val="221988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0C5A2D9-F2B5-9486-F105-BF12E5ECBD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00088"/>
            <a:ext cx="9144000" cy="3743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2447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Predefined Process 3">
            <a:extLst>
              <a:ext uri="{FF2B5EF4-FFF2-40B4-BE49-F238E27FC236}">
                <a16:creationId xmlns:a16="http://schemas.microsoft.com/office/drawing/2014/main" id="{EB97539F-C70E-E6CD-F68C-7400AE03C54B}"/>
              </a:ext>
            </a:extLst>
          </p:cNvPr>
          <p:cNvSpPr/>
          <p:nvPr/>
        </p:nvSpPr>
        <p:spPr>
          <a:xfrm>
            <a:off x="457200" y="1105396"/>
            <a:ext cx="8229600"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Real Population</a:t>
            </a:r>
            <a:br>
              <a:rPr lang="en-US"/>
            </a:br>
            <a:r>
              <a:rPr lang="en-US"/>
              <a:t>(Entire LAD pop)</a:t>
            </a:r>
            <a:br>
              <a:rPr lang="en-US"/>
            </a:br>
            <a:r>
              <a:rPr lang="en-US"/>
              <a:t>Leeds: 800k</a:t>
            </a:r>
          </a:p>
        </p:txBody>
      </p:sp>
      <p:sp>
        <p:nvSpPr>
          <p:cNvPr id="2" name="Title 1">
            <a:extLst>
              <a:ext uri="{FF2B5EF4-FFF2-40B4-BE49-F238E27FC236}">
                <a16:creationId xmlns:a16="http://schemas.microsoft.com/office/drawing/2014/main" id="{8E32EA5B-460B-1156-A9D5-3D93D1394E5E}"/>
              </a:ext>
            </a:extLst>
          </p:cNvPr>
          <p:cNvSpPr>
            <a:spLocks noGrp="1"/>
          </p:cNvSpPr>
          <p:nvPr>
            <p:ph type="title"/>
          </p:nvPr>
        </p:nvSpPr>
        <p:spPr/>
        <p:txBody>
          <a:bodyPr/>
          <a:lstStyle/>
          <a:p>
            <a:r>
              <a:rPr lang="en-US"/>
              <a:t>Scaling of real vs. synthetic Individuals + Trips</a:t>
            </a:r>
          </a:p>
        </p:txBody>
      </p:sp>
      <p:sp>
        <p:nvSpPr>
          <p:cNvPr id="3" name="Predefined Process 2">
            <a:extLst>
              <a:ext uri="{FF2B5EF4-FFF2-40B4-BE49-F238E27FC236}">
                <a16:creationId xmlns:a16="http://schemas.microsoft.com/office/drawing/2014/main" id="{F68A9659-32F1-A20C-9055-0163FDBD45A4}"/>
              </a:ext>
            </a:extLst>
          </p:cNvPr>
          <p:cNvSpPr/>
          <p:nvPr/>
        </p:nvSpPr>
        <p:spPr>
          <a:xfrm>
            <a:off x="457199" y="2117144"/>
            <a:ext cx="4672739"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Synthetic pop. (Source data)</a:t>
            </a:r>
            <a:br>
              <a:rPr lang="en-US"/>
            </a:br>
            <a:r>
              <a:rPr lang="en-US"/>
              <a:t>(1:20, (1:120))</a:t>
            </a:r>
          </a:p>
        </p:txBody>
      </p:sp>
      <p:sp>
        <p:nvSpPr>
          <p:cNvPr id="5" name="Predefined Process 4">
            <a:extLst>
              <a:ext uri="{FF2B5EF4-FFF2-40B4-BE49-F238E27FC236}">
                <a16:creationId xmlns:a16="http://schemas.microsoft.com/office/drawing/2014/main" id="{E1B9DFA3-CE32-C514-D482-D00ED32FE975}"/>
              </a:ext>
            </a:extLst>
          </p:cNvPr>
          <p:cNvSpPr/>
          <p:nvPr/>
        </p:nvSpPr>
        <p:spPr>
          <a:xfrm>
            <a:off x="457199" y="3128892"/>
            <a:ext cx="2797445"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Reference Data </a:t>
            </a:r>
            <a:br>
              <a:rPr lang="en-US"/>
            </a:br>
            <a:r>
              <a:rPr lang="en-US"/>
              <a:t>(Entire or sub pop)</a:t>
            </a:r>
          </a:p>
        </p:txBody>
      </p:sp>
      <p:sp>
        <p:nvSpPr>
          <p:cNvPr id="6" name="Predefined Process 5">
            <a:extLst>
              <a:ext uri="{FF2B5EF4-FFF2-40B4-BE49-F238E27FC236}">
                <a16:creationId xmlns:a16="http://schemas.microsoft.com/office/drawing/2014/main" id="{1BB5C68B-1251-DD40-0B79-C40B3808940A}"/>
              </a:ext>
            </a:extLst>
          </p:cNvPr>
          <p:cNvSpPr/>
          <p:nvPr/>
        </p:nvSpPr>
        <p:spPr>
          <a:xfrm>
            <a:off x="457199" y="4098473"/>
            <a:ext cx="3091913"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Counterfactual Data </a:t>
            </a:r>
            <a:br>
              <a:rPr lang="en-US"/>
            </a:br>
            <a:r>
              <a:rPr lang="en-US"/>
              <a:t>(+- REF)</a:t>
            </a:r>
          </a:p>
        </p:txBody>
      </p:sp>
      <p:grpSp>
        <p:nvGrpSpPr>
          <p:cNvPr id="7" name="Group 6">
            <a:extLst>
              <a:ext uri="{FF2B5EF4-FFF2-40B4-BE49-F238E27FC236}">
                <a16:creationId xmlns:a16="http://schemas.microsoft.com/office/drawing/2014/main" id="{1381AA40-6546-263A-9ED4-A2E9D5E58828}"/>
              </a:ext>
            </a:extLst>
          </p:cNvPr>
          <p:cNvGrpSpPr/>
          <p:nvPr/>
        </p:nvGrpSpPr>
        <p:grpSpPr>
          <a:xfrm>
            <a:off x="5431741" y="2074977"/>
            <a:ext cx="1186452" cy="655288"/>
            <a:chOff x="3358012" y="2909322"/>
            <a:chExt cx="1186452" cy="655288"/>
          </a:xfrm>
        </p:grpSpPr>
        <p:cxnSp>
          <p:nvCxnSpPr>
            <p:cNvPr id="8" name="Curved Connector 7">
              <a:extLst>
                <a:ext uri="{FF2B5EF4-FFF2-40B4-BE49-F238E27FC236}">
                  <a16:creationId xmlns:a16="http://schemas.microsoft.com/office/drawing/2014/main" id="{87F0E2E7-193F-5635-9E46-A129A9AFF9C3}"/>
                </a:ext>
              </a:extLst>
            </p:cNvPr>
            <p:cNvCxnSpPr/>
            <p:nvPr/>
          </p:nvCxnSpPr>
          <p:spPr>
            <a:xfrm rot="10800000" flipV="1">
              <a:off x="3549113" y="2909322"/>
              <a:ext cx="681925" cy="655288"/>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D39E2C3-CEA6-A733-B62D-9B85E03D541F}"/>
                </a:ext>
              </a:extLst>
            </p:cNvPr>
            <p:cNvSpPr txBox="1"/>
            <p:nvPr/>
          </p:nvSpPr>
          <p:spPr>
            <a:xfrm>
              <a:off x="3358012" y="3086725"/>
              <a:ext cx="1186452" cy="276999"/>
            </a:xfrm>
            <a:prstGeom prst="rect">
              <a:avLst/>
            </a:prstGeom>
            <a:solidFill>
              <a:schemeClr val="bg1"/>
            </a:solidFill>
            <a:ln w="19050">
              <a:solidFill>
                <a:schemeClr val="accent1"/>
              </a:solidFill>
            </a:ln>
          </p:spPr>
          <p:txBody>
            <a:bodyPr wrap="square" rtlCol="0">
              <a:spAutoFit/>
            </a:bodyPr>
            <a:lstStyle/>
            <a:p>
              <a:pPr algn="ctr"/>
              <a:r>
                <a:rPr lang="en-US" sz="1200"/>
                <a:t>1:20, (1:120))</a:t>
              </a:r>
            </a:p>
          </p:txBody>
        </p:sp>
      </p:grpSp>
      <p:grpSp>
        <p:nvGrpSpPr>
          <p:cNvPr id="10" name="Group 9">
            <a:extLst>
              <a:ext uri="{FF2B5EF4-FFF2-40B4-BE49-F238E27FC236}">
                <a16:creationId xmlns:a16="http://schemas.microsoft.com/office/drawing/2014/main" id="{DA40F14E-833E-5B56-3C56-D3BC5A07B2EB}"/>
              </a:ext>
            </a:extLst>
          </p:cNvPr>
          <p:cNvGrpSpPr/>
          <p:nvPr/>
        </p:nvGrpSpPr>
        <p:grpSpPr>
          <a:xfrm>
            <a:off x="3722683" y="3424983"/>
            <a:ext cx="1186452" cy="655288"/>
            <a:chOff x="3366176" y="2909322"/>
            <a:chExt cx="1186452" cy="655288"/>
          </a:xfrm>
        </p:grpSpPr>
        <p:cxnSp>
          <p:nvCxnSpPr>
            <p:cNvPr id="11" name="Curved Connector 10">
              <a:extLst>
                <a:ext uri="{FF2B5EF4-FFF2-40B4-BE49-F238E27FC236}">
                  <a16:creationId xmlns:a16="http://schemas.microsoft.com/office/drawing/2014/main" id="{BC50EC67-EDB9-7C63-CA37-929D10DB25E8}"/>
                </a:ext>
              </a:extLst>
            </p:cNvPr>
            <p:cNvCxnSpPr/>
            <p:nvPr/>
          </p:nvCxnSpPr>
          <p:spPr>
            <a:xfrm rot="10800000" flipV="1">
              <a:off x="3549113" y="2909322"/>
              <a:ext cx="681925" cy="655288"/>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00E1818A-0CC3-D16F-4107-9DAEF2BC737A}"/>
                </a:ext>
              </a:extLst>
            </p:cNvPr>
            <p:cNvSpPr txBox="1"/>
            <p:nvPr/>
          </p:nvSpPr>
          <p:spPr>
            <a:xfrm>
              <a:off x="3366176" y="3010857"/>
              <a:ext cx="1186452" cy="461665"/>
            </a:xfrm>
            <a:prstGeom prst="rect">
              <a:avLst/>
            </a:prstGeom>
            <a:solidFill>
              <a:schemeClr val="bg1"/>
            </a:solidFill>
            <a:ln w="19050">
              <a:solidFill>
                <a:schemeClr val="accent1"/>
              </a:solidFill>
            </a:ln>
          </p:spPr>
          <p:txBody>
            <a:bodyPr wrap="square" rtlCol="0">
              <a:spAutoFit/>
            </a:bodyPr>
            <a:lstStyle/>
            <a:p>
              <a:pPr algn="ctr"/>
              <a:r>
                <a:rPr lang="en-US" sz="1200"/>
                <a:t>User inputs in “real” units</a:t>
              </a:r>
            </a:p>
          </p:txBody>
        </p:sp>
      </p:grpSp>
      <p:grpSp>
        <p:nvGrpSpPr>
          <p:cNvPr id="13" name="Group 12">
            <a:extLst>
              <a:ext uri="{FF2B5EF4-FFF2-40B4-BE49-F238E27FC236}">
                <a16:creationId xmlns:a16="http://schemas.microsoft.com/office/drawing/2014/main" id="{532E5B16-689E-D3D7-6E75-07A9F474D5CE}"/>
              </a:ext>
            </a:extLst>
          </p:cNvPr>
          <p:cNvGrpSpPr/>
          <p:nvPr/>
        </p:nvGrpSpPr>
        <p:grpSpPr>
          <a:xfrm>
            <a:off x="4917023" y="4184990"/>
            <a:ext cx="1186452" cy="661310"/>
            <a:chOff x="3341683" y="2934093"/>
            <a:chExt cx="1186452" cy="661310"/>
          </a:xfrm>
        </p:grpSpPr>
        <p:cxnSp>
          <p:nvCxnSpPr>
            <p:cNvPr id="14" name="Curved Connector 13">
              <a:extLst>
                <a:ext uri="{FF2B5EF4-FFF2-40B4-BE49-F238E27FC236}">
                  <a16:creationId xmlns:a16="http://schemas.microsoft.com/office/drawing/2014/main" id="{30452D7E-C870-6298-A854-553181974B23}"/>
                </a:ext>
              </a:extLst>
            </p:cNvPr>
            <p:cNvCxnSpPr>
              <a:cxnSpLocks/>
            </p:cNvCxnSpPr>
            <p:nvPr/>
          </p:nvCxnSpPr>
          <p:spPr>
            <a:xfrm>
              <a:off x="3578816" y="2934093"/>
              <a:ext cx="699361" cy="661310"/>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35EFC546-1962-F146-C137-F3648CAA683C}"/>
                </a:ext>
              </a:extLst>
            </p:cNvPr>
            <p:cNvSpPr txBox="1"/>
            <p:nvPr/>
          </p:nvSpPr>
          <p:spPr>
            <a:xfrm>
              <a:off x="3341683" y="3033915"/>
              <a:ext cx="1186452" cy="461665"/>
            </a:xfrm>
            <a:prstGeom prst="rect">
              <a:avLst/>
            </a:prstGeom>
            <a:solidFill>
              <a:schemeClr val="bg1"/>
            </a:solidFill>
            <a:ln w="19050">
              <a:solidFill>
                <a:schemeClr val="accent1"/>
              </a:solidFill>
            </a:ln>
          </p:spPr>
          <p:txBody>
            <a:bodyPr wrap="square" rtlCol="0">
              <a:spAutoFit/>
            </a:bodyPr>
            <a:lstStyle/>
            <a:p>
              <a:pPr algn="ctr"/>
              <a:r>
                <a:rPr lang="en-US" sz="1200"/>
                <a:t>-&gt; Results in “real” units</a:t>
              </a:r>
            </a:p>
          </p:txBody>
        </p:sp>
      </p:grpSp>
    </p:spTree>
    <p:extLst>
      <p:ext uri="{BB962C8B-B14F-4D97-AF65-F5344CB8AC3E}">
        <p14:creationId xmlns:p14="http://schemas.microsoft.com/office/powerpoint/2010/main" val="2272420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Tab 1: the source population</a:t>
            </a:r>
          </a:p>
        </p:txBody>
      </p:sp>
      <p:sp>
        <p:nvSpPr>
          <p:cNvPr id="3" name="Content Placeholder 2"/>
          <p:cNvSpPr>
            <a:spLocks noGrp="1"/>
          </p:cNvSpPr>
          <p:nvPr>
            <p:ph idx="1"/>
          </p:nvPr>
        </p:nvSpPr>
        <p:spPr/>
        <p:txBody>
          <a:bodyPr/>
          <a:lstStyle/>
          <a:p>
            <a:pPr marL="0" lvl="0" indent="0">
              <a:buNone/>
            </a:pPr>
            <a:r>
              <a:rPr b="1"/>
              <a:t>An appraisal starts with a place.</a:t>
            </a:r>
          </a:p>
          <a:p>
            <a:pPr lvl="0"/>
            <a:r>
              <a:t>Select a Local Authority District (LAD), such as Leeds.</a:t>
            </a:r>
          </a:p>
          <a:p>
            <a:pPr lvl="0"/>
            <a:r>
              <a:t>The app draws on a synthetic population: people with linked travel and physical-activity information.</a:t>
            </a:r>
          </a:p>
          <a:p>
            <a:pPr lvl="0"/>
            <a:r>
              <a:t>Local patterns provide starting values for your appraisal.</a:t>
            </a:r>
          </a:p>
          <a:p>
            <a:pPr lvl="0"/>
            <a:r>
              <a:t>Your assessed population can be smaller than the whole district.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Tab 2: active-travel volume</a:t>
            </a:r>
          </a:p>
        </p:txBody>
      </p:sp>
      <p:sp>
        <p:nvSpPr>
          <p:cNvPr id="3" name="Content Placeholder 2"/>
          <p:cNvSpPr>
            <a:spLocks noGrp="1"/>
          </p:cNvSpPr>
          <p:nvPr>
            <p:ph idx="1"/>
          </p:nvPr>
        </p:nvSpPr>
        <p:spPr/>
        <p:txBody>
          <a:bodyPr/>
          <a:lstStyle/>
          <a:p>
            <a:pPr marL="0" lvl="0" indent="0">
              <a:buNone/>
            </a:pPr>
            <a:r>
              <a:rPr b="1"/>
              <a:t>Describe travel in the reference and intervention scenarios.</a:t>
            </a:r>
          </a:p>
          <a:p>
            <a:pPr marL="342900" lvl="0" indent="-342900">
              <a:buAutoNum type="arabicPeriod"/>
            </a:pPr>
            <a:r>
              <a:rPr b="1"/>
              <a:t>Users:</a:t>
            </a:r>
            <a:r>
              <a:t> number of people using each mode.</a:t>
            </a:r>
          </a:p>
          <a:p>
            <a:pPr marL="342900" lvl="0" indent="-342900">
              <a:buAutoNum type="arabicPeriod"/>
            </a:pPr>
            <a:r>
              <a:rPr b="1"/>
              <a:t>Trips:</a:t>
            </a:r>
            <a:r>
              <a:t> number of trips, with a timeframe.</a:t>
            </a:r>
          </a:p>
          <a:p>
            <a:pPr marL="342900" lvl="0" indent="-342900">
              <a:buAutoNum type="arabicPeriod"/>
            </a:pPr>
            <a:r>
              <a:rPr b="1"/>
              <a:t>Distance or duration:</a:t>
            </a:r>
            <a:r>
              <a:t> travel distance or time.</a:t>
            </a:r>
          </a:p>
          <a:p>
            <a:pPr marL="342900" lvl="0" indent="-342900">
              <a:buAutoNum type="arabicPeriod"/>
            </a:pPr>
            <a:r>
              <a:rPr b="1"/>
              <a:t>Mode shares:</a:t>
            </a:r>
            <a:r>
              <a:t> percentages, with a total travel amount.</a:t>
            </a:r>
          </a:p>
          <a:p>
            <a:pPr marL="0" lvl="0" indent="0">
              <a:buNone/>
            </a:pPr>
            <a:r>
              <a:t>Initial values come from the source population. Edit these to describe your scheme.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Tab 3: the assessed population</a:t>
            </a:r>
          </a:p>
        </p:txBody>
      </p:sp>
      <p:sp>
        <p:nvSpPr>
          <p:cNvPr id="3" name="Content Placeholder 2"/>
          <p:cNvSpPr>
            <a:spLocks noGrp="1"/>
          </p:cNvSpPr>
          <p:nvPr>
            <p:ph idx="1"/>
          </p:nvPr>
        </p:nvSpPr>
        <p:spPr/>
        <p:txBody>
          <a:bodyPr/>
          <a:lstStyle/>
          <a:p>
            <a:pPr marL="0" lvl="0" indent="0">
              <a:buNone/>
            </a:pPr>
            <a:r>
              <a:rPr b="1"/>
              <a:t>First set the scope, then refine the distribution.</a:t>
            </a:r>
          </a:p>
          <a:p>
            <a:pPr lvl="0"/>
            <a:r>
              <a:rPr b="1"/>
              <a:t>Scope:</a:t>
            </a:r>
            <a:r>
              <a:t> adjust REF and CF counts and eligible population categories.</a:t>
            </a:r>
          </a:p>
          <a:p>
            <a:pPr lvl="0"/>
            <a:r>
              <a:rPr b="1"/>
              <a:t>Distribution:</a:t>
            </a:r>
            <a:r>
              <a:t> refine age, sex and physical-activity patterns.</a:t>
            </a:r>
          </a:p>
          <a:p>
            <a:pPr lvl="0"/>
            <a:r>
              <a:t>Scope supplies count targets and filter criteria.</a:t>
            </a:r>
          </a:p>
          <a:p>
            <a:pPr lvl="0"/>
            <a:r>
              <a:t>Sampling weights favour particular people within the eligible pool.</a:t>
            </a:r>
          </a:p>
          <a:p>
            <a:pPr marL="0" lvl="0" indent="0">
              <a:buNone/>
            </a:pPr>
            <a:r>
              <a:t>Starting values come from Tab 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Tab 4: trips</a:t>
            </a:r>
          </a:p>
        </p:txBody>
      </p:sp>
      <p:sp>
        <p:nvSpPr>
          <p:cNvPr id="3" name="Content Placeholder 2"/>
          <p:cNvSpPr>
            <a:spLocks noGrp="1"/>
          </p:cNvSpPr>
          <p:nvPr>
            <p:ph idx="1"/>
          </p:nvPr>
        </p:nvSpPr>
        <p:spPr/>
        <p:txBody>
          <a:bodyPr/>
          <a:lstStyle/>
          <a:p>
            <a:pPr marL="0" lvl="0" indent="0">
              <a:buNone/>
            </a:pPr>
            <a:r>
              <a:rPr b="1"/>
              <a:t>First set trip scope, then refine trip patterns.</a:t>
            </a:r>
          </a:p>
          <a:p>
            <a:pPr lvl="0"/>
            <a:r>
              <a:rPr b="1"/>
              <a:t>Scope:</a:t>
            </a:r>
            <a:r>
              <a:t> adjust REF and CF trip totals. Keep population fixed.</a:t>
            </a:r>
          </a:p>
          <a:p>
            <a:pPr lvl="0"/>
            <a:r>
              <a:rPr b="1"/>
              <a:t>Distribution:</a:t>
            </a:r>
            <a:r>
              <a:t> refine distances and source modes for shifts.</a:t>
            </a:r>
          </a:p>
          <a:p>
            <a:pPr lvl="0"/>
            <a:r>
              <a:t>Scope supplies counts and filters. Distributions guide weights.</a:t>
            </a:r>
          </a:p>
          <a:p>
            <a:pPr lvl="0"/>
            <a:r>
              <a:t>Separately, specify the share of newly induced trips.</a:t>
            </a:r>
          </a:p>
          <a:p>
            <a:pPr marL="0" lvl="0" indent="0">
              <a:buNone/>
            </a:pPr>
            <a:endParaRPr lang="en-US"/>
          </a:p>
          <a:p>
            <a:pPr marL="0" lvl="0" indent="0">
              <a:buNone/>
            </a:pPr>
            <a:r>
              <a:t>Change</a:t>
            </a:r>
            <a:r>
              <a:rPr lang="en-US"/>
              <a:t>s to active modes</a:t>
            </a:r>
            <a:r>
              <a:t> change physical activity</a:t>
            </a:r>
            <a:r>
              <a:rPr lang="en-US"/>
              <a:t>, change health</a:t>
            </a:r>
            <a: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Sampling: priorities and fallbacks</a:t>
            </a:r>
          </a:p>
        </p:txBody>
      </p:sp>
      <p:sp>
        <p:nvSpPr>
          <p:cNvPr id="3" name="Content Placeholder 2"/>
          <p:cNvSpPr>
            <a:spLocks noGrp="1"/>
          </p:cNvSpPr>
          <p:nvPr>
            <p:ph idx="1"/>
          </p:nvPr>
        </p:nvSpPr>
        <p:spPr/>
        <p:txBody>
          <a:bodyPr/>
          <a:lstStyle/>
          <a:p>
            <a:pPr marL="0" lvl="0" indent="0">
              <a:buNone/>
            </a:pPr>
            <a:r>
              <a:rPr b="1"/>
              <a:t>CF starts from REF. The requested difference drives sampling.</a:t>
            </a:r>
          </a:p>
          <a:p>
            <a:pPr lvl="0"/>
            <a:r>
              <a:rPr b="1"/>
              <a:t>Priority:</a:t>
            </a:r>
            <a:r>
              <a:t> explicit counts prevail. Tab 4 preserves Tab 3 people.</a:t>
            </a:r>
          </a:p>
          <a:p>
            <a:pPr lvl="0"/>
            <a:r>
              <a:rPr b="1"/>
              <a:t>People:</a:t>
            </a:r>
            <a:r>
              <a:t> eligible REF non-users first, then the wider source.</a:t>
            </a:r>
          </a:p>
          <a:p>
            <a:pPr lvl="0"/>
            <a:r>
              <a:rPr b="1"/>
              <a:t>Trips:</a:t>
            </a:r>
            <a:r>
              <a:t> shifts plus induced trips. Each trip can shift once.</a:t>
            </a:r>
          </a:p>
          <a:p>
            <a:pPr lvl="0"/>
            <a:r>
              <a:rPr b="1"/>
              <a:t>Fallbacks:</a:t>
            </a:r>
            <a:r>
              <a:t> relax weights, reuse trip patterns, or add induced trips when shifts fall short.</a:t>
            </a:r>
          </a:p>
          <a:p>
            <a:pPr marL="0" lvl="0" indent="0">
              <a:buNone/>
            </a:pPr>
            <a:r>
              <a:t>Filters remain binding.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Tab 5: health impacts</a:t>
            </a:r>
          </a:p>
        </p:txBody>
      </p:sp>
      <p:sp>
        <p:nvSpPr>
          <p:cNvPr id="3" name="Content Placeholder 2"/>
          <p:cNvSpPr>
            <a:spLocks noGrp="1"/>
          </p:cNvSpPr>
          <p:nvPr>
            <p:ph idx="1"/>
          </p:nvPr>
        </p:nvSpPr>
        <p:spPr/>
        <p:txBody>
          <a:bodyPr>
            <a:normAutofit fontScale="85000" lnSpcReduction="20000"/>
          </a:bodyPr>
          <a:lstStyle/>
          <a:p>
            <a:pPr marL="0" lvl="0" indent="0">
              <a:buNone/>
            </a:pPr>
            <a:r>
              <a:rPr b="1"/>
              <a:t>Activity changes affect modelled health outcomes.</a:t>
            </a:r>
          </a:p>
          <a:p>
            <a:pPr lvl="0"/>
            <a:r>
              <a:t>Calculate the outcome difference: </a:t>
            </a:r>
            <a:r>
              <a:rPr b="1"/>
              <a:t>CF minus REF</a:t>
            </a:r>
            <a:r>
              <a:t>.</a:t>
            </a:r>
          </a:p>
          <a:p>
            <a:pPr lvl="0"/>
            <a:r>
              <a:t>Lower disease and mortality outcomes indicate a benefit.</a:t>
            </a:r>
          </a:p>
          <a:p>
            <a:pPr lvl="0"/>
            <a:r>
              <a:t>Report prevented deaths and disease cases, life-years gained and health-adjusted life-years (HALYs).</a:t>
            </a:r>
          </a:p>
          <a:p>
            <a:pPr lvl="0"/>
            <a:r>
              <a:t>These four are separate outcomes and should not be added together.</a:t>
            </a:r>
          </a:p>
          <a:p>
            <a:pPr lvl="0"/>
            <a:r>
              <a:t>Results by mode are an allocation of the combined result in proportion to each mode's </a:t>
            </a:r>
            <a:r>
              <a:rPr err="1"/>
              <a:t>mMET</a:t>
            </a:r>
            <a:r>
              <a:t> contribution, not separate model runs.</a:t>
            </a:r>
          </a:p>
          <a:p>
            <a:pPr lvl="0"/>
            <a:r>
              <a:t>Inspect plots and exports over the assessment period.</a:t>
            </a:r>
          </a:p>
          <a:p>
            <a:pPr marL="0" lvl="0" indent="0">
              <a:buNone/>
            </a:pPr>
            <a:r>
              <a:t>Results depend on the input estimates, source data and modelling assumptions.</a:t>
            </a:r>
          </a:p>
        </p:txBody>
      </p:sp>
    </p:spTree>
    <p:extLst>
      <p:ext uri="{BB962C8B-B14F-4D97-AF65-F5344CB8AC3E}">
        <p14:creationId xmlns:p14="http://schemas.microsoft.com/office/powerpoint/2010/main" val="9106227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833BA-7651-BD94-6A86-3F04A60000E8}"/>
              </a:ext>
            </a:extLst>
          </p:cNvPr>
          <p:cNvSpPr>
            <a:spLocks noGrp="1"/>
          </p:cNvSpPr>
          <p:nvPr>
            <p:ph type="title"/>
          </p:nvPr>
        </p:nvSpPr>
        <p:spPr/>
        <p:txBody>
          <a:bodyPr/>
          <a:lstStyle/>
          <a:p>
            <a:r>
              <a:rPr lang="en-GB" dirty="0"/>
              <a:t>Exports: taking results out of the tool</a:t>
            </a:r>
          </a:p>
        </p:txBody>
      </p:sp>
      <p:sp>
        <p:nvSpPr>
          <p:cNvPr id="3" name="Content Placeholder 2">
            <a:extLst>
              <a:ext uri="{FF2B5EF4-FFF2-40B4-BE49-F238E27FC236}">
                <a16:creationId xmlns:a16="http://schemas.microsoft.com/office/drawing/2014/main" id="{3B16FAA7-43E5-3D47-74F4-0B620747E05C}"/>
              </a:ext>
            </a:extLst>
          </p:cNvPr>
          <p:cNvSpPr>
            <a:spLocks noGrp="1"/>
          </p:cNvSpPr>
          <p:nvPr>
            <p:ph idx="1"/>
          </p:nvPr>
        </p:nvSpPr>
        <p:spPr/>
        <p:txBody>
          <a:bodyPr>
            <a:normAutofit fontScale="92500"/>
          </a:bodyPr>
          <a:lstStyle/>
          <a:p>
            <a:pPr marL="0" lvl="0" indent="0">
              <a:buNone/>
            </a:pPr>
            <a:r>
              <a:rPr lang="en-GB" b="1" dirty="0"/>
              <a:t>The Export tab hands you the run's outputs as files.</a:t>
            </a:r>
          </a:p>
          <a:p>
            <a:pPr lvl="0"/>
            <a:r>
              <a:rPr lang="en-GB" dirty="0"/>
              <a:t>Results data table: the numbers behind the plots, as CSV or Excel.</a:t>
            </a:r>
          </a:p>
          <a:p>
            <a:pPr lvl="0"/>
            <a:r>
              <a:rPr lang="en-GB" dirty="0"/>
              <a:t>Plots package: a ZIP of the figures shown in the tool.</a:t>
            </a:r>
          </a:p>
          <a:p>
            <a:pPr lvl="0"/>
            <a:r>
              <a:rPr lang="en-GB" dirty="0"/>
              <a:t>AMAT inputs: one row per outcome per year, annual and cumulative.</a:t>
            </a:r>
          </a:p>
          <a:p>
            <a:pPr lvl="0"/>
            <a:r>
              <a:rPr lang="en-GB" dirty="0"/>
              <a:t>Report: a Word or PDF write-up of the run.</a:t>
            </a:r>
          </a:p>
          <a:p>
            <a:pPr marL="0" lvl="0" indent="0">
              <a:buNone/>
            </a:pPr>
            <a:r>
              <a:rPr lang="en-GB" dirty="0"/>
              <a:t>Each download belongs to the run that produced it, so record the scenario settings with it.</a:t>
            </a:r>
          </a:p>
        </p:txBody>
      </p:sp>
    </p:spTree>
    <p:extLst>
      <p:ext uri="{BB962C8B-B14F-4D97-AF65-F5344CB8AC3E}">
        <p14:creationId xmlns:p14="http://schemas.microsoft.com/office/powerpoint/2010/main" val="146176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Backup: user-count inputs</a:t>
            </a:r>
          </a:p>
        </p:txBody>
      </p:sp>
      <p:sp>
        <p:nvSpPr>
          <p:cNvPr id="4" name="Content Placeholder 3">
            <a:extLst>
              <a:ext uri="{FF2B5EF4-FFF2-40B4-BE49-F238E27FC236}">
                <a16:creationId xmlns:a16="http://schemas.microsoft.com/office/drawing/2014/main" id="{2C2CF325-640A-3721-3A82-38884C7CD748}"/>
              </a:ext>
            </a:extLst>
          </p:cNvPr>
          <p:cNvSpPr>
            <a:spLocks noGrp="1"/>
          </p:cNvSpPr>
          <p:nvPr>
            <p:ph idx="1"/>
          </p:nvPr>
        </p:nvSpPr>
        <p:spPr/>
        <p:txBody>
          <a:bodyPr/>
          <a:lstStyle/>
          <a:p>
            <a:endParaRPr lang="en-US"/>
          </a:p>
        </p:txBody>
      </p:sp>
      <p:pic>
        <p:nvPicPr>
          <p:cNvPr id="3" name="Picture 1" descr="ui_data_authority_workflow_png/01-user-count-route.png"/>
          <p:cNvPicPr>
            <a:picLocks noGrp="1" noChangeAspect="1"/>
          </p:cNvPicPr>
          <p:nvPr/>
        </p:nvPicPr>
        <p:blipFill>
          <a:blip r:embed="rId3"/>
          <a:stretch>
            <a:fillRect/>
          </a:stretch>
        </p:blipFill>
        <p:spPr bwMode="auto">
          <a:xfrm>
            <a:off x="4152900" y="1193800"/>
            <a:ext cx="850900" cy="3390900"/>
          </a:xfrm>
          <a:prstGeom prst="rect">
            <a:avLst/>
          </a:prstGeom>
          <a:noFill/>
          <a:ln w="9525">
            <a:noFill/>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Backup: trip-count inputs</a:t>
            </a:r>
          </a:p>
        </p:txBody>
      </p:sp>
      <p:sp>
        <p:nvSpPr>
          <p:cNvPr id="4" name="Content Placeholder 3">
            <a:extLst>
              <a:ext uri="{FF2B5EF4-FFF2-40B4-BE49-F238E27FC236}">
                <a16:creationId xmlns:a16="http://schemas.microsoft.com/office/drawing/2014/main" id="{C4E9D03A-18FC-6763-36E3-4E4D7819B4D1}"/>
              </a:ext>
            </a:extLst>
          </p:cNvPr>
          <p:cNvSpPr>
            <a:spLocks noGrp="1"/>
          </p:cNvSpPr>
          <p:nvPr>
            <p:ph idx="1"/>
          </p:nvPr>
        </p:nvSpPr>
        <p:spPr/>
        <p:txBody>
          <a:bodyPr/>
          <a:lstStyle/>
          <a:p>
            <a:endParaRPr lang="en-US"/>
          </a:p>
        </p:txBody>
      </p:sp>
      <p:pic>
        <p:nvPicPr>
          <p:cNvPr id="3" name="Picture 1" descr="ui_data_authority_workflow_png/02-trip-count-route.png"/>
          <p:cNvPicPr>
            <a:picLocks noGrp="1" noChangeAspect="1"/>
          </p:cNvPicPr>
          <p:nvPr/>
        </p:nvPicPr>
        <p:blipFill>
          <a:blip r:embed="rId3"/>
          <a:stretch>
            <a:fillRect/>
          </a:stretch>
        </p:blipFill>
        <p:spPr bwMode="auto">
          <a:xfrm>
            <a:off x="3784600" y="1193800"/>
            <a:ext cx="1562100" cy="3390900"/>
          </a:xfrm>
          <a:prstGeom prst="rect">
            <a:avLst/>
          </a:prstGeom>
          <a:noFill/>
          <a:ln w="9525">
            <a:noFill/>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Backup: distance or duration inputs</a:t>
            </a:r>
          </a:p>
        </p:txBody>
      </p:sp>
      <p:sp>
        <p:nvSpPr>
          <p:cNvPr id="4" name="Content Placeholder 3">
            <a:extLst>
              <a:ext uri="{FF2B5EF4-FFF2-40B4-BE49-F238E27FC236}">
                <a16:creationId xmlns:a16="http://schemas.microsoft.com/office/drawing/2014/main" id="{7ED3A858-113F-9F84-A85D-B80D8765CEB9}"/>
              </a:ext>
            </a:extLst>
          </p:cNvPr>
          <p:cNvSpPr>
            <a:spLocks noGrp="1"/>
          </p:cNvSpPr>
          <p:nvPr>
            <p:ph idx="1"/>
          </p:nvPr>
        </p:nvSpPr>
        <p:spPr/>
        <p:txBody>
          <a:bodyPr/>
          <a:lstStyle/>
          <a:p>
            <a:endParaRPr lang="en-US"/>
          </a:p>
        </p:txBody>
      </p:sp>
      <p:pic>
        <p:nvPicPr>
          <p:cNvPr id="3" name="Picture 1" descr="ui_data_authority_workflow_png/03-distance-duration-route.png"/>
          <p:cNvPicPr>
            <a:picLocks noGrp="1" noChangeAspect="1"/>
          </p:cNvPicPr>
          <p:nvPr/>
        </p:nvPicPr>
        <p:blipFill>
          <a:blip r:embed="rId3"/>
          <a:stretch>
            <a:fillRect/>
          </a:stretch>
        </p:blipFill>
        <p:spPr bwMode="auto">
          <a:xfrm>
            <a:off x="3543300" y="1193800"/>
            <a:ext cx="2070100" cy="3390900"/>
          </a:xfrm>
          <a:prstGeom prst="rect">
            <a:avLst/>
          </a:prstGeom>
          <a:noFill/>
          <a:ln w="9525">
            <a:noFill/>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Backup: mode-share inputs</a:t>
            </a:r>
          </a:p>
        </p:txBody>
      </p:sp>
      <p:sp>
        <p:nvSpPr>
          <p:cNvPr id="4" name="Content Placeholder 3">
            <a:extLst>
              <a:ext uri="{FF2B5EF4-FFF2-40B4-BE49-F238E27FC236}">
                <a16:creationId xmlns:a16="http://schemas.microsoft.com/office/drawing/2014/main" id="{27B7DED0-9FF7-3C41-0D1D-49315C8FFB1B}"/>
              </a:ext>
            </a:extLst>
          </p:cNvPr>
          <p:cNvSpPr>
            <a:spLocks noGrp="1"/>
          </p:cNvSpPr>
          <p:nvPr>
            <p:ph idx="1"/>
          </p:nvPr>
        </p:nvSpPr>
        <p:spPr/>
        <p:txBody>
          <a:bodyPr/>
          <a:lstStyle/>
          <a:p>
            <a:endParaRPr lang="en-US"/>
          </a:p>
        </p:txBody>
      </p:sp>
      <p:pic>
        <p:nvPicPr>
          <p:cNvPr id="3" name="Picture 1" descr="ui_data_authority_workflow_png/04-mode-share-route.png"/>
          <p:cNvPicPr>
            <a:picLocks noGrp="1" noChangeAspect="1"/>
          </p:cNvPicPr>
          <p:nvPr/>
        </p:nvPicPr>
        <p:blipFill>
          <a:blip r:embed="rId3"/>
          <a:stretch>
            <a:fillRect/>
          </a:stretch>
        </p:blipFill>
        <p:spPr bwMode="auto">
          <a:xfrm>
            <a:off x="3606800" y="1193800"/>
            <a:ext cx="1930400" cy="3390900"/>
          </a:xfrm>
          <a:prstGeom prst="rect">
            <a:avLst/>
          </a:prstGeom>
          <a:noFill/>
          <a:ln w="9525">
            <a:noFill/>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Backup: population-to-results handoff</a:t>
            </a:r>
          </a:p>
        </p:txBody>
      </p:sp>
      <p:sp>
        <p:nvSpPr>
          <p:cNvPr id="4" name="Content Placeholder 3">
            <a:extLst>
              <a:ext uri="{FF2B5EF4-FFF2-40B4-BE49-F238E27FC236}">
                <a16:creationId xmlns:a16="http://schemas.microsoft.com/office/drawing/2014/main" id="{3A9ABA7E-C338-136C-CFE5-E8FB1EFF5E0D}"/>
              </a:ext>
            </a:extLst>
          </p:cNvPr>
          <p:cNvSpPr>
            <a:spLocks noGrp="1"/>
          </p:cNvSpPr>
          <p:nvPr>
            <p:ph idx="1"/>
          </p:nvPr>
        </p:nvSpPr>
        <p:spPr/>
        <p:txBody>
          <a:bodyPr/>
          <a:lstStyle/>
          <a:p>
            <a:endParaRPr lang="en-US"/>
          </a:p>
        </p:txBody>
      </p:sp>
      <p:pic>
        <p:nvPicPr>
          <p:cNvPr id="3" name="Picture 1" descr="ui_data_authority_workflow_png/05-tab3-to-results-handoff.png"/>
          <p:cNvPicPr>
            <a:picLocks noGrp="1" noChangeAspect="1"/>
          </p:cNvPicPr>
          <p:nvPr/>
        </p:nvPicPr>
        <p:blipFill>
          <a:blip r:embed="rId3"/>
          <a:stretch>
            <a:fillRect/>
          </a:stretch>
        </p:blipFill>
        <p:spPr bwMode="auto">
          <a:xfrm>
            <a:off x="3759200" y="1193800"/>
            <a:ext cx="1638300" cy="3390900"/>
          </a:xfrm>
          <a:prstGeom prst="rect">
            <a:avLst/>
          </a:prstGeom>
          <a:noFill/>
          <a:ln w="9525">
            <a:noFill/>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Backup: complete workflow</a:t>
            </a:r>
          </a:p>
        </p:txBody>
      </p:sp>
      <p:sp>
        <p:nvSpPr>
          <p:cNvPr id="4" name="Content Placeholder 3">
            <a:extLst>
              <a:ext uri="{FF2B5EF4-FFF2-40B4-BE49-F238E27FC236}">
                <a16:creationId xmlns:a16="http://schemas.microsoft.com/office/drawing/2014/main" id="{A7E12A50-E114-6577-21E0-9FF8D6B4C9E6}"/>
              </a:ext>
            </a:extLst>
          </p:cNvPr>
          <p:cNvSpPr>
            <a:spLocks noGrp="1"/>
          </p:cNvSpPr>
          <p:nvPr>
            <p:ph idx="1"/>
          </p:nvPr>
        </p:nvSpPr>
        <p:spPr/>
        <p:txBody>
          <a:bodyPr/>
          <a:lstStyle/>
          <a:p>
            <a:endParaRPr lang="en-US"/>
          </a:p>
        </p:txBody>
      </p:sp>
      <p:pic>
        <p:nvPicPr>
          <p:cNvPr id="3" name="Picture 1" descr="ui_data_authority_workflow_png/06-comprehensive-workflow.png"/>
          <p:cNvPicPr>
            <a:picLocks noGrp="1" noChangeAspect="1"/>
          </p:cNvPicPr>
          <p:nvPr/>
        </p:nvPicPr>
        <p:blipFill>
          <a:blip r:embed="rId3"/>
          <a:stretch>
            <a:fillRect/>
          </a:stretch>
        </p:blipFill>
        <p:spPr bwMode="auto">
          <a:xfrm>
            <a:off x="3683000" y="1193800"/>
            <a:ext cx="1790700" cy="3390900"/>
          </a:xfrm>
          <a:prstGeom prst="rect">
            <a:avLst/>
          </a:prstGeom>
          <a:noFill/>
          <a:ln w="9525">
            <a:noFill/>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48BB8-0F60-D9A7-7314-C22120E7AEC7}"/>
              </a:ext>
            </a:extLst>
          </p:cNvPr>
          <p:cNvSpPr>
            <a:spLocks noGrp="1"/>
          </p:cNvSpPr>
          <p:nvPr>
            <p:ph type="title"/>
          </p:nvPr>
        </p:nvSpPr>
        <p:spPr/>
        <p:txBody>
          <a:bodyPr/>
          <a:lstStyle/>
          <a:p>
            <a:r>
              <a:rPr lang="en-US"/>
              <a:t>Scheme effect scaling</a:t>
            </a:r>
          </a:p>
        </p:txBody>
      </p:sp>
      <p:cxnSp>
        <p:nvCxnSpPr>
          <p:cNvPr id="7" name="Straight Arrow Connector 6">
            <a:extLst>
              <a:ext uri="{FF2B5EF4-FFF2-40B4-BE49-F238E27FC236}">
                <a16:creationId xmlns:a16="http://schemas.microsoft.com/office/drawing/2014/main" id="{B0103678-E7BC-389E-89F1-7D643B2FD0CA}"/>
              </a:ext>
            </a:extLst>
          </p:cNvPr>
          <p:cNvCxnSpPr/>
          <p:nvPr/>
        </p:nvCxnSpPr>
        <p:spPr>
          <a:xfrm flipV="1">
            <a:off x="697424" y="2014780"/>
            <a:ext cx="0" cy="21852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A47EFCED-5330-35F9-E4F1-F3C6B413B358}"/>
              </a:ext>
            </a:extLst>
          </p:cNvPr>
          <p:cNvCxnSpPr/>
          <p:nvPr/>
        </p:nvCxnSpPr>
        <p:spPr>
          <a:xfrm>
            <a:off x="697424" y="4246536"/>
            <a:ext cx="632330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FC357685-6849-EADA-B328-5BB0AF382B11}"/>
              </a:ext>
            </a:extLst>
          </p:cNvPr>
          <p:cNvSpPr txBox="1"/>
          <p:nvPr/>
        </p:nvSpPr>
        <p:spPr>
          <a:xfrm>
            <a:off x="108488" y="1580827"/>
            <a:ext cx="1301858" cy="369332"/>
          </a:xfrm>
          <a:prstGeom prst="rect">
            <a:avLst/>
          </a:prstGeom>
          <a:noFill/>
        </p:spPr>
        <p:txBody>
          <a:bodyPr wrap="square" rtlCol="0">
            <a:spAutoFit/>
          </a:bodyPr>
          <a:lstStyle/>
          <a:p>
            <a:r>
              <a:rPr lang="en-US"/>
              <a:t>Effect (%)</a:t>
            </a:r>
          </a:p>
        </p:txBody>
      </p:sp>
      <p:sp>
        <p:nvSpPr>
          <p:cNvPr id="11" name="TextBox 10">
            <a:extLst>
              <a:ext uri="{FF2B5EF4-FFF2-40B4-BE49-F238E27FC236}">
                <a16:creationId xmlns:a16="http://schemas.microsoft.com/office/drawing/2014/main" id="{B11F5340-329D-D1E5-065A-DDB593AAD300}"/>
              </a:ext>
            </a:extLst>
          </p:cNvPr>
          <p:cNvSpPr txBox="1"/>
          <p:nvPr/>
        </p:nvSpPr>
        <p:spPr>
          <a:xfrm>
            <a:off x="7384942" y="4061870"/>
            <a:ext cx="1301858" cy="369332"/>
          </a:xfrm>
          <a:prstGeom prst="rect">
            <a:avLst/>
          </a:prstGeom>
          <a:noFill/>
        </p:spPr>
        <p:txBody>
          <a:bodyPr wrap="square" rtlCol="0">
            <a:spAutoFit/>
          </a:bodyPr>
          <a:lstStyle/>
          <a:p>
            <a:r>
              <a:rPr lang="en-US"/>
              <a:t>Years</a:t>
            </a:r>
          </a:p>
        </p:txBody>
      </p:sp>
      <p:cxnSp>
        <p:nvCxnSpPr>
          <p:cNvPr id="15" name="Straight Arrow Connector 14">
            <a:extLst>
              <a:ext uri="{FF2B5EF4-FFF2-40B4-BE49-F238E27FC236}">
                <a16:creationId xmlns:a16="http://schemas.microsoft.com/office/drawing/2014/main" id="{99E8234A-B1E9-4ACE-9D13-F49E2097DDDC}"/>
              </a:ext>
            </a:extLst>
          </p:cNvPr>
          <p:cNvCxnSpPr/>
          <p:nvPr/>
        </p:nvCxnSpPr>
        <p:spPr>
          <a:xfrm flipV="1">
            <a:off x="697424" y="2873829"/>
            <a:ext cx="1000747" cy="1372707"/>
          </a:xfrm>
          <a:prstGeom prst="straightConnector1">
            <a:avLst/>
          </a:prstGeom>
          <a:ln cap="rnd">
            <a:headEnd type="oval" w="lg" len="lg"/>
            <a:tailEnd type="oval"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916844CE-209B-7D22-1CFF-B4C0A4E81EB2}"/>
              </a:ext>
            </a:extLst>
          </p:cNvPr>
          <p:cNvCxnSpPr>
            <a:cxnSpLocks/>
          </p:cNvCxnSpPr>
          <p:nvPr/>
        </p:nvCxnSpPr>
        <p:spPr>
          <a:xfrm flipV="1">
            <a:off x="1698171" y="2821476"/>
            <a:ext cx="1160161" cy="29106"/>
          </a:xfrm>
          <a:prstGeom prst="straightConnector1">
            <a:avLst/>
          </a:prstGeom>
          <a:ln cap="rnd">
            <a:headEnd type="oval" w="lg" len="lg"/>
            <a:tailEnd type="oval" w="lg" len="lg"/>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ED383D9-C9B5-043E-17B2-654C7FEE7F9D}"/>
              </a:ext>
            </a:extLst>
          </p:cNvPr>
          <p:cNvCxnSpPr>
            <a:cxnSpLocks/>
          </p:cNvCxnSpPr>
          <p:nvPr/>
        </p:nvCxnSpPr>
        <p:spPr>
          <a:xfrm flipH="1" flipV="1">
            <a:off x="2858332" y="2821476"/>
            <a:ext cx="2170868" cy="1378565"/>
          </a:xfrm>
          <a:prstGeom prst="straightConnector1">
            <a:avLst/>
          </a:prstGeom>
          <a:ln cap="rnd">
            <a:headEnd type="oval" w="lg" len="lg"/>
            <a:tailEnd type="oval" w="lg" len="lg"/>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FD73525-A3B8-E2D6-3E76-1C8C2383C1E2}"/>
              </a:ext>
            </a:extLst>
          </p:cNvPr>
          <p:cNvCxnSpPr>
            <a:cxnSpLocks/>
          </p:cNvCxnSpPr>
          <p:nvPr/>
        </p:nvCxnSpPr>
        <p:spPr>
          <a:xfrm flipV="1">
            <a:off x="697423" y="2926782"/>
            <a:ext cx="1796699" cy="1343001"/>
          </a:xfrm>
          <a:prstGeom prst="straightConnector1">
            <a:avLst/>
          </a:prstGeom>
          <a:ln cap="rnd">
            <a:solidFill>
              <a:srgbClr val="92D050"/>
            </a:solidFill>
            <a:headEnd type="oval" w="lg" len="lg"/>
            <a:tailEnd type="oval" w="lg" len="lg"/>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8E79116B-5A21-A60F-AEE9-AA25DB7E4749}"/>
              </a:ext>
            </a:extLst>
          </p:cNvPr>
          <p:cNvCxnSpPr>
            <a:cxnSpLocks/>
          </p:cNvCxnSpPr>
          <p:nvPr/>
        </p:nvCxnSpPr>
        <p:spPr>
          <a:xfrm flipH="1">
            <a:off x="2494122" y="2926782"/>
            <a:ext cx="4526610" cy="0"/>
          </a:xfrm>
          <a:prstGeom prst="straightConnector1">
            <a:avLst/>
          </a:prstGeom>
          <a:ln cap="rnd">
            <a:solidFill>
              <a:srgbClr val="92D050"/>
            </a:solidFill>
            <a:headEnd type="oval" w="lg" len="lg"/>
            <a:tailEnd type="oval" w="lg" len="lg"/>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CAAD6A90-D527-5EC2-D4D8-209A4BD74CD2}"/>
              </a:ext>
            </a:extLst>
          </p:cNvPr>
          <p:cNvSpPr txBox="1"/>
          <p:nvPr/>
        </p:nvSpPr>
        <p:spPr>
          <a:xfrm>
            <a:off x="1493651" y="1823295"/>
            <a:ext cx="6629400" cy="646331"/>
          </a:xfrm>
          <a:prstGeom prst="rect">
            <a:avLst/>
          </a:prstGeom>
          <a:noFill/>
        </p:spPr>
        <p:txBody>
          <a:bodyPr wrap="square" rtlCol="0">
            <a:spAutoFit/>
          </a:bodyPr>
          <a:lstStyle/>
          <a:p>
            <a:r>
              <a:rPr lang="en-US"/>
              <a:t>1. In how many years will the scheme reach its maximum effect? </a:t>
            </a:r>
            <a:br>
              <a:rPr lang="en-US"/>
            </a:br>
            <a:r>
              <a:rPr lang="en-US"/>
              <a:t>- (Max. effect = AT Volume provided in Tab2)</a:t>
            </a:r>
          </a:p>
        </p:txBody>
      </p:sp>
      <p:sp>
        <p:nvSpPr>
          <p:cNvPr id="27" name="TextBox 26">
            <a:extLst>
              <a:ext uri="{FF2B5EF4-FFF2-40B4-BE49-F238E27FC236}">
                <a16:creationId xmlns:a16="http://schemas.microsoft.com/office/drawing/2014/main" id="{9E5853D7-9030-2FB7-6171-4634980E3DA1}"/>
              </a:ext>
            </a:extLst>
          </p:cNvPr>
          <p:cNvSpPr txBox="1"/>
          <p:nvPr/>
        </p:nvSpPr>
        <p:spPr>
          <a:xfrm>
            <a:off x="2986055" y="2481250"/>
            <a:ext cx="4574074" cy="369332"/>
          </a:xfrm>
          <a:prstGeom prst="rect">
            <a:avLst/>
          </a:prstGeom>
          <a:noFill/>
        </p:spPr>
        <p:txBody>
          <a:bodyPr wrap="square" rtlCol="0">
            <a:spAutoFit/>
          </a:bodyPr>
          <a:lstStyle/>
          <a:p>
            <a:r>
              <a:rPr lang="en-US"/>
              <a:t>2. For how many years will max. effect last?</a:t>
            </a:r>
          </a:p>
        </p:txBody>
      </p:sp>
      <p:sp>
        <p:nvSpPr>
          <p:cNvPr id="28" name="TextBox 27">
            <a:extLst>
              <a:ext uri="{FF2B5EF4-FFF2-40B4-BE49-F238E27FC236}">
                <a16:creationId xmlns:a16="http://schemas.microsoft.com/office/drawing/2014/main" id="{2F2A5012-1EBA-516E-B497-19C8B5B9CCD8}"/>
              </a:ext>
            </a:extLst>
          </p:cNvPr>
          <p:cNvSpPr txBox="1"/>
          <p:nvPr/>
        </p:nvSpPr>
        <p:spPr>
          <a:xfrm>
            <a:off x="4829661" y="3357748"/>
            <a:ext cx="4102068" cy="646331"/>
          </a:xfrm>
          <a:prstGeom prst="rect">
            <a:avLst/>
          </a:prstGeom>
          <a:noFill/>
        </p:spPr>
        <p:txBody>
          <a:bodyPr wrap="square" rtlCol="0">
            <a:spAutoFit/>
          </a:bodyPr>
          <a:lstStyle/>
          <a:p>
            <a:r>
              <a:rPr lang="en-US"/>
              <a:t>3. After how many years will scheme effect end?</a:t>
            </a:r>
          </a:p>
        </p:txBody>
      </p:sp>
    </p:spTree>
    <p:extLst>
      <p:ext uri="{BB962C8B-B14F-4D97-AF65-F5344CB8AC3E}">
        <p14:creationId xmlns:p14="http://schemas.microsoft.com/office/powerpoint/2010/main" val="514152005"/>
      </p:ext>
    </p:extLst>
  </p:cSld>
  <p:clrMapOvr>
    <a:masterClrMapping/>
  </p:clrMapOvr>
</p:sld>
</file>

<file path=ppt/theme/theme1.xml><?xml version="1.0" encoding="utf-8"?>
<a:theme xmlns:a="http://schemas.openxmlformats.org/drawingml/2006/main" name="Office Theme [178884931939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99205FB-DCE4-3E4A-BBCB-D305F47AC536}">
  <we:reference id="wa200010001" version="1.0.0.1" store="en-US" storeType="OMEX"/>
  <we:alternateReferences>
    <we:reference id="WA200010001" version="1.0.0.1" store="" storeType="OMEX"/>
  </we:alternateReferences>
  <we:properties>
    <we:property name="claude.fileId" value="&quot;17f1a910-5d18-4003-a749-0735862902b3&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3049</TotalTime>
  <Words>4661</Words>
  <Application>Microsoft Macintosh PowerPoint</Application>
  <PresentationFormat>On-screen Show (16:9)</PresentationFormat>
  <Paragraphs>290</Paragraphs>
  <Slides>31</Slides>
  <Notes>14</Notes>
  <HiddenSlides>3</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 [1788849319397]</vt:lpstr>
      <vt:lpstr>MIAMAT Morbidity Impacts of Active Mobility Appraisal Tool</vt:lpstr>
      <vt:lpstr>Goals for Today</vt:lpstr>
      <vt:lpstr>The health model and its emulator</vt:lpstr>
      <vt:lpstr>Health-adjusted life years (HALYs)</vt:lpstr>
      <vt:lpstr>What this adds to appraisal</vt:lpstr>
      <vt:lpstr>From activity change to health impacts</vt:lpstr>
      <vt:lpstr>Scope and assumptions</vt:lpstr>
      <vt:lpstr>Basic Tool Concept</vt:lpstr>
      <vt:lpstr>Tool Layout (Workflow)</vt:lpstr>
      <vt:lpstr>Tool layout: Tabs 1 and 2</vt:lpstr>
      <vt:lpstr>Tool layout: Tabs 3 to 5</vt:lpstr>
      <vt:lpstr>Overview of data (Individuals + Trips)</vt:lpstr>
      <vt:lpstr>Source population =&gt; REF =&gt; CF &lt;- intervention</vt:lpstr>
      <vt:lpstr>Walk through</vt:lpstr>
      <vt:lpstr>Source data for sampling Individuals + Trips</vt:lpstr>
      <vt:lpstr>PowerPoint Presentation</vt:lpstr>
      <vt:lpstr>Scaling of real vs. synthetic Individuals + Trips</vt:lpstr>
      <vt:lpstr>Tab 1: the source population</vt:lpstr>
      <vt:lpstr>Tab 2: active-travel volume</vt:lpstr>
      <vt:lpstr>Tab 3: the assessed population</vt:lpstr>
      <vt:lpstr>Tab 4: trips</vt:lpstr>
      <vt:lpstr>Sampling: priorities and fallbacks</vt:lpstr>
      <vt:lpstr>Tab 5: health impacts</vt:lpstr>
      <vt:lpstr>Exports: taking results out of the tool</vt:lpstr>
      <vt:lpstr>Backup: user-count inputs</vt:lpstr>
      <vt:lpstr>Backup: trip-count inputs</vt:lpstr>
      <vt:lpstr>Backup: distance or duration inputs</vt:lpstr>
      <vt:lpstr>Backup: mode-share inputs</vt:lpstr>
      <vt:lpstr>Backup: population-to-results handoff</vt:lpstr>
      <vt:lpstr>Backup: complete workflow</vt:lpstr>
      <vt:lpstr>Scheme effect scaling</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Thomas Gotschi</cp:lastModifiedBy>
  <cp:revision>6</cp:revision>
  <dcterms:created xsi:type="dcterms:W3CDTF">2026-09-05T01:11:07Z</dcterms:created>
  <dcterms:modified xsi:type="dcterms:W3CDTF">2026-09-10T14:17:38Z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toc-title">
    <vt:lpwstr>Table of contents</vt:lpwstr>
  </property>
</Properties>
</file>