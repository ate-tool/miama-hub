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notesMaster" Target="notesMasters/notesMaster1.xml" /><Relationship Id="rId17" Type="http://schemas.openxmlformats.org/officeDocument/2006/relationships/viewProps" Target="viewProps.xml" /><Relationship Id="rId16" Type="http://schemas.openxmlformats.org/officeDocument/2006/relationships/presProps" Target="presProps.xml" /><Relationship Id="rId1" Type="http://schemas.openxmlformats.org/officeDocument/2006/relationships/slideMaster" Target="slideMasters/slideMaster1.xml" /><Relationship Id="rId19" Type="http://schemas.openxmlformats.org/officeDocument/2006/relationships/tableStyles" Target="tableStyles.xml" /><Relationship Id="rId18"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MIAMA estimates the health implications of a change in active travel. The source population supplies both reference information and examples of existing travel behaviour for sampling.</a:t>
            </a:r>
          </a:p>
          <a:p>
            <a:pPr lvl="0" indent="0" marL="0">
              <a:buNone/>
            </a:pPr>
          </a:p>
          <a:p>
            <a:pPr lvl="0" indent="0" marL="0">
              <a:buNone/>
            </a:pPr>
            <a:r>
              <a:rPr/>
              <a:t>Synthetic people represent population patterns. They are not identified residents or a list of actual scheme participants. People and trips are linked, so the app can estimate who receives additional physical activity.</a:t>
            </a:r>
          </a:p>
          <a:p>
            <a:pPr lvl="0" indent="0" marL="0">
              <a:buNone/>
            </a:pPr>
          </a:p>
          <a:p>
            <a:pPr lvl="0" indent="0" marL="0">
              <a:buNone/>
            </a:pPr>
            <a:r>
              <a:rPr/>
              <a:t>The geographic source and the population assessed by a particular scheme are distinct. For a demonstration using the Leeds sample profile, explain that it contains 5,000 synthetic people and is a testing dataset, not the full Leeds population. Availability depends on the deployed data profile.</a:t>
            </a:r>
          </a:p>
          <a:p>
            <a:pPr lvl="0" indent="0" marL="0">
              <a:buNone/>
            </a:pPr>
          </a:p>
          <a:p>
            <a:pPr lvl="0" indent="0" marL="0">
              <a:buNone/>
            </a:pPr>
            <a:r>
              <a:rPr/>
              <a:t>Sources: docs/methodology.qmd, Reference synthetic population; README.md, Tab 1 and runtime data profiles.</a:t>
            </a:r>
          </a:p>
        </p:txBody>
      </p:sp>
      <p:sp>
        <p:nvSpPr>
          <p:cNvPr id="4" name="Slide Number Placeholder 3"/>
          <p:cNvSpPr>
            <a:spLocks noGrp="1"/>
          </p:cNvSpPr>
          <p:nvPr>
            <p:ph type="sldNum" sz="quarter" idx="10"/>
          </p:nvPr>
        </p:nvSpPr>
        <p:spPr/>
        <p:txBody>
          <a:bodyPr/>
          <a:lstStyle/>
          <a:p>
            <a:fld id="{18BDFEC3-8487-43E8-A154-7C12CBC1FFF2}" type="slidenum">
              <a:rPr lang="en-US"/>
              <a:t>1</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Reference means the situation used for comparison. Counterfactual means the situation expected with the intervention. These are two scenarios, not necessarily two different dates.</a:t>
            </a:r>
          </a:p>
          <a:p>
            <a:pPr lvl="0" indent="0" marL="0">
              <a:buNone/>
            </a:pPr>
          </a:p>
          <a:p>
            <a:pPr lvl="0" indent="0" marL="0">
              <a:buNone/>
            </a:pPr>
            <a:r>
              <a:rPr/>
              <a:t>Choose one of the four input routes. Distance and duration are alternatives within one route. Check whether inputs are totals or per person and check the timeframe. Mode shares require a denominator: a percentage alone does not describe the size of a scheme.</a:t>
            </a:r>
          </a:p>
          <a:p>
            <a:pPr lvl="0" indent="0" marL="0">
              <a:buNone/>
            </a:pPr>
          </a:p>
          <a:p>
            <a:pPr lvl="0" indent="0" marL="0">
              <a:buNone/>
            </a:pPr>
            <a:r>
              <a:rPr/>
              <a:t>For example, enter 15,000 reference walking trips and 20,000 intervention walking trips per week. Those are illustrative inputs, not a prediction or observed result. The app estimates the people associated with that travel. With user inputs, it estimates corresponding trips instead.</a:t>
            </a:r>
          </a:p>
          <a:p>
            <a:pPr lvl="0" indent="0" marL="0">
              <a:buNone/>
            </a:pPr>
          </a:p>
          <a:p>
            <a:pPr lvl="0" indent="0" marL="0">
              <a:buNone/>
            </a:pPr>
            <a:r>
              <a:rPr/>
              <a:t>Basic mode uses assumptions to complete the assessment without requiring the advanced refinement steps. Selected modes may include walking, cycling, e-biking and walking associated with public transport.</a:t>
            </a:r>
          </a:p>
          <a:p>
            <a:pPr lvl="0" indent="0" marL="0">
              <a:buNone/>
            </a:pPr>
          </a:p>
          <a:p>
            <a:pPr lvl="0" indent="0" marL="0">
              <a:buNone/>
            </a:pPr>
            <a:r>
              <a:rPr/>
              <a:t>The initial values are suggestions, not estimates of your intervention. REF describes the existing active travel you want to assess. CF describes the expected total with the intervention, not just the increase. In the example, enter 20,000 as CF, not 5,000. Source patterns and assumptions fill in information you have not supplied, such as trips per user.</a:t>
            </a:r>
          </a:p>
          <a:p>
            <a:pPr lvl="0" indent="0" marL="0">
              <a:buNone/>
            </a:pPr>
          </a:p>
          <a:p>
            <a:pPr lvl="0" indent="0" marL="0">
              <a:buNone/>
            </a:pPr>
            <a:r>
              <a:rPr/>
              <a:t>In the basic workflow, people who supply trips, distance/duration or mode shares can optionally specify the assessed population as additional information. Otherwise the app uses its population estimate. Basic users can then proceed to results without reviewing Tabs 3 and 4.</a:t>
            </a:r>
          </a:p>
          <a:p>
            <a:pPr lvl="0" indent="0" marL="0">
              <a:buNone/>
            </a:pPr>
          </a:p>
          <a:p>
            <a:pPr lvl="0" indent="0" marL="0">
              <a:buNone/>
            </a:pPr>
            <a:r>
              <a:rPr/>
              <a:t>Sources: R/tab2_input_conversion.R; docs/methodology.qmd, Basic specification and Continuity from Tab 2 to Tabs 3 and 4.</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Basic population refinements change the assessed scope. Advanced distributions influence which people or trip patterns are more likely to be sampled. The distinction matters because the same number of additional trips can have different health effects depending on who receives the activity.</a:t>
            </a:r>
          </a:p>
          <a:p>
            <a:pPr lvl="0" indent="0" marL="0">
              <a:buNone/>
            </a:pPr>
          </a:p>
          <a:p>
            <a:pPr lvl="0" indent="0" marL="0">
              <a:buNone/>
            </a:pPr>
            <a:r>
              <a:rPr/>
              <a:t>Explain these as two separate operations. Scope answers ‘how many people, and which categories are eligible?’ Distribution answers ‘among those eligible, who is more likely to be selected?’ Excluding an age or physical-activity category is a filter. Changing a preferred age, sex balance or activity distribution changes sampling weights. A weight is a relative selection preference, not a guarantee of an exact realized category count.</a:t>
            </a:r>
          </a:p>
          <a:p>
            <a:pPr lvl="0" indent="0" marL="0">
              <a:buNone/>
            </a:pPr>
          </a:p>
          <a:p>
            <a:pPr lvl="0" indent="0" marL="0">
              <a:buNone/>
            </a:pPr>
            <a:r>
              <a:rPr/>
              <a:t>Tab 2 provides the starting values. If you supplied trips, population refinements should preserve those trip totals until you explicitly change them in Tab 4. If you supplied users, Tab 3 establishes the user numbers and Tab 4 refines trips within that population. Tab 4 should not infer a different population merely because trip counts change.</a:t>
            </a:r>
          </a:p>
          <a:p>
            <a:pPr lvl="0" indent="0" marL="0">
              <a:buNone/>
            </a:pPr>
          </a:p>
          <a:p>
            <a:pPr lvl="0" indent="0" marL="0">
              <a:buNone/>
            </a:pPr>
            <a:r>
              <a:rPr/>
              <a:t>New users means people starting to use an active mode. Newly induced trips means additional trips that did not exist in the reference scenario. A current user can make a newly induced trip. A new user can switch an existing trip from another mode.</a:t>
            </a:r>
          </a:p>
          <a:p>
            <a:pPr lvl="0" indent="0" marL="0">
              <a:buNone/>
            </a:pPr>
          </a:p>
          <a:p>
            <a:pPr lvl="0" indent="0" marL="0">
              <a:buNone/>
            </a:pPr>
            <a:r>
              <a:rPr/>
              <a:t>The model samples from eligible source people and trip patterns. A person may use several modes, but an already shifted trip cannot be shifted again to another mode. Defaults and eligibility rules can constrain what is feasible.</a:t>
            </a:r>
          </a:p>
          <a:p>
            <a:pPr lvl="0" indent="0" marL="0">
              <a:buNone/>
            </a:pPr>
          </a:p>
          <a:p>
            <a:pPr lvl="0" indent="0" marL="0">
              <a:buNone/>
            </a:pPr>
            <a:r>
              <a:rPr/>
              <a:t>REF determines the starting scope and current mode users. CF specifies the desired situation after the change. For an explicit user-count example, REF = 100 cyclists and CF = 120 cyclists means retaining the current cyclists and recruiting 20 eligible source non-cyclists. The model can draw these from outside the assessed REF subset but within the retained geographic source. CF = 80 instead means selecting 20 current cyclists to stop that mode use, not deleting 20 residents.</a:t>
            </a:r>
          </a:p>
          <a:p>
            <a:pPr lvl="0" indent="0" marL="0">
              <a:buNone/>
            </a:pPr>
          </a:p>
          <a:p>
            <a:pPr lvl="0" indent="0" marL="0">
              <a:buNone/>
            </a:pPr>
            <a:r>
              <a:rPr/>
              <a:t>When the input is trips rather than people, a rise in trips does not imply the same proportional rise in users. Existing users can make more trips. The current/new-user assumption helps allocate the additional travel when user counts have not been supplied explicitly. Explicit user counts take precedence over that assumption. Advanced age, sex and activity distributions influence sampling probabilities.</a:t>
            </a:r>
          </a:p>
          <a:p>
            <a:pPr lvl="0" indent="0" marL="0">
              <a:buNone/>
            </a:pPr>
          </a:p>
          <a:p>
            <a:pPr lvl="0" indent="0" marL="0">
              <a:buNone/>
            </a:pPr>
            <a:r>
              <a:rPr/>
              <a:t>Sources: R/api_refinement_profile_defaults.R; R/counterfactual_data_apply_ui_values.R; docs/methodology.qmd, Continuity and Counterfactual sampling and redistribution.</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Travel becomes physical-activity exposure through active time and the intensity of the activity. The calculation accounts for existing physical activity, rather than treating every added minute as having the same health benefit for everyone.</a:t>
            </a:r>
          </a:p>
          <a:p>
            <a:pPr lvl="0" indent="0" marL="0">
              <a:buNone/>
            </a:pPr>
          </a:p>
          <a:p>
            <a:pPr lvl="0" indent="0" marL="0">
              <a:buNone/>
            </a:pPr>
            <a:r>
              <a:rPr/>
              <a:t>Use the same scope-versus-distribution distinction as on Tab 3. Trip totals define how much travel is assessed. Eligibility rules determine which source trips can contribute; distance distributions and diversion assumptions guide selection among candidates. Source-mode diversion preferences may be implemented through mode-specific allocation as well as weights. Do not imply that every Tab 4 distribution is a hard exclusion rule or an exact quota. In particular, the legacy basic distance slider is not a fully operational trip-scope filter in HUB; the operational distance-distribution controls guide sampling instead.</a:t>
            </a:r>
          </a:p>
          <a:p>
            <a:pPr lvl="0" indent="0" marL="0">
              <a:buNone/>
            </a:pPr>
          </a:p>
          <a:p>
            <a:pPr lvl="0" indent="0" marL="0">
              <a:buNone/>
            </a:pPr>
            <a:r>
              <a:rPr/>
              <a:t>For REF = 15,000 and CF = 20,000 walking trips per week, the requested net increase is 5,000. The model starts with REF and samples changes toward the CF target. Source-mode assumptions guide which existing trips switch. The induced-trip assumption determines the share added as new journeys. Current/new users and shifted/induced trips are distinct splits. One person may use multiple active modes, but a shifted trip is unavailable for a second shift.</a:t>
            </a:r>
          </a:p>
          <a:p>
            <a:pPr lvl="0" indent="0" marL="0">
              <a:buNone/>
            </a:pPr>
          </a:p>
          <a:p>
            <a:pPr lvl="0" indent="0" marL="0">
              <a:buNone/>
            </a:pPr>
            <a:r>
              <a:rPr/>
              <a:t>People’s available trip patterns, sampling constraints and any explicit population targets govern allocation. Where the accepted user pool owns too few observed trips, donor-pattern sampling with replacement can support the trip target. That reuses a travel pattern; it does not permit the same existing trip to switch twice.</a:t>
            </a:r>
          </a:p>
          <a:p>
            <a:pPr lvl="0" indent="0" marL="0">
              <a:buNone/>
            </a:pPr>
          </a:p>
          <a:p>
            <a:pPr lvl="0" indent="0" marL="0">
              <a:buNone/>
            </a:pPr>
            <a:r>
              <a:rPr/>
              <a:t>Trip inputs in Tab 2 remain authoritative until an explicit Tab 4 edit supersedes them. Tab 4 refinements should preserve the accepted Tab 3 person counts. The resulting trips per person can therefore change. Review both tables when testing this handoff.</a:t>
            </a:r>
          </a:p>
          <a:p>
            <a:pPr lvl="0" indent="0" marL="0">
              <a:buNone/>
            </a:pPr>
          </a:p>
          <a:p>
            <a:pPr lvl="0" indent="0" marL="0">
              <a:buNone/>
            </a:pPr>
            <a:r>
              <a:rPr/>
              <a:t>HUB uses precomputed MIAMA-HM health trajectories and exposure-response lookup information. It does not rerun the entire health microsimulation for each click. The lookup varies by health-model strata and cycle. HALYs combine survival with adjustments for ill health.</a:t>
            </a:r>
          </a:p>
          <a:p>
            <a:pPr lvl="0" indent="0" marL="0">
              <a:buNone/>
            </a:pPr>
          </a:p>
          <a:p>
            <a:pPr lvl="0" indent="0" marL="0">
              <a:buNone/>
            </a:pPr>
            <a:r>
              <a:rPr/>
              <a:t>The assessment period is configurable. Use the period shown in the app rather than promising a fixed number of years here. This is a model of expected health effects under the scenario assumptions, not a forecast of individual outcomes. These slides describe the physical-activity health pathway; they do not claim to include every transport benefit or harm.</a:t>
            </a:r>
          </a:p>
          <a:p>
            <a:pPr lvl="0" indent="0" marL="0">
              <a:buNone/>
            </a:pPr>
          </a:p>
          <a:p>
            <a:pPr lvl="0" indent="0" marL="0">
              <a:buNone/>
            </a:pPr>
            <a:r>
              <a:rPr/>
              <a:t>Sources: R/counterfactual_data_apply_health_outcomes.R; docs/methodology.qmd, From physical activity to health trajectories and Health-adjusted life years.</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Green source rows form the illustrative REF subset. CF starts as a copy. The CF target, eligibility filters and sampling weights determine which people and trips change.</a:t>
            </a:r>
          </a:p>
          <a:p>
            <a:pPr lvl="0" indent="0" marL="0">
              <a:buNone/>
            </a:pPr>
          </a:p>
          <a:p>
            <a:pPr lvl="0" indent="0" marL="0">
              <a:buNone/>
            </a:pPr>
            <a:r>
              <a:rPr/>
              <a:t>Person A illustrates a mode switch. C receives an induced trip. D remains unchanged. E illustrates recruitment of an eligible existing source non-user from outside REF. E is not a new resident or a duplicated person. A person can use more than one mode, while an already shifted trip cannot shift again.</a:t>
            </a:r>
          </a:p>
          <a:p>
            <a:pPr lvl="0" indent="0" marL="0">
              <a:buNone/>
            </a:pPr>
          </a:p>
          <a:p>
            <a:pPr lvl="0" indent="0" marL="0">
              <a:buNone/>
            </a:pPr>
            <a:r>
              <a:rPr/>
              <a:t>The lower arrow represents the wider geographic source as a pool of eligible people and donor trip patterns. Reusing a donor trip pattern may support a fixed trip target without changing fixed user counts. Lower CF targets can reduce active-mode use instead. The next slide explains priorities and fallbacks. The diagram is schematic, not a quantitative example.</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REF inputs establish the starting scope. CF inputs specify a target situation, so the difference determines whether the model samples additions or reductions. CF initially copies REF. This is why two CF totals of 120 users represent different interventions when REF is 100 versus 50.</a:t>
            </a:r>
          </a:p>
          <a:p>
            <a:pPr lvl="0" indent="0" marL="0">
              <a:buNone/>
            </a:pPr>
          </a:p>
          <a:p>
            <a:pPr lvl="0" indent="0" marL="0">
              <a:buNone/>
            </a:pPr>
            <a:r>
              <a:rPr/>
              <a:t>INPUT PRIORITY. Explicit user-count inputs take precedence over a default current/new-user percentage. For a trip-based Tab 2 route, the trip target remains binding through Tab 3 unless explicitly changed in Tab 4. Tab 3 determines the accepted person counts. Tab 4 may change trips per person but should not infer a new population. Later explicit Tab 4 trip counts supersede earlier estimated trip counts or trip targets derived from mode share or distance/duration. Otherwise the upstream input remains authoritative.</a:t>
            </a:r>
          </a:p>
          <a:p>
            <a:pPr lvl="0" indent="0" marL="0">
              <a:buNone/>
            </a:pPr>
          </a:p>
          <a:p>
            <a:pPr lvl="0" indent="0" marL="0">
              <a:buNone/>
            </a:pPr>
            <a:r>
              <a:rPr/>
              <a:t>PEOPLE. To increase mode users, first select eligible baseline non-users already inside the assessed population. Recruit a shortfall from eligible non-users elsewhere in the retained geographic source. A person can use several modes. People are not duplicated to satisfy a user-count target. If too few eligible people exist in the full source, a revised target or category selection is needed. Fewer CF users means selecting current users to reduce or stop the mode, while retaining the people for health accounting.</a:t>
            </a:r>
          </a:p>
          <a:p>
            <a:pPr lvl="0" indent="0" marL="0">
              <a:buNone/>
            </a:pPr>
          </a:p>
          <a:p>
            <a:pPr lvl="0" indent="0" marL="0">
              <a:buNone/>
            </a:pPr>
            <a:r>
              <a:rPr/>
              <a:t>TRIPS. To increase active trips, switch eligible existing trips according to the source-mode assumptions and add the induced share. Keep already-shifted trips unavailable for a second shift. If the fixed user pool owns too few observed trip patterns to meet a fixed trip target, sample geographic donor patterns with replacement and assign them to the fixed people. This creates modeled trip records, not duplicate people. A shortfall of switchable CF trips can become induced trips, changing the realized shifted/induced split. Reports retain these mechanism counts. Fewer active trips means switching eligible active trips away.</a:t>
            </a:r>
          </a:p>
          <a:p>
            <a:pPr lvl="0" indent="0" marL="0">
              <a:buNone/>
            </a:pPr>
          </a:p>
          <a:p>
            <a:pPr lvl="0" indent="0" marL="0">
              <a:buNone/>
            </a:pPr>
            <a:r>
              <a:rPr/>
              <a:t>WEIGHTS AND FILTERS. When there are insufficient positive-weight candidates, the implementation can fill the unavoidable remainder uniformly from other eligible candidates. It does not thereby reintroduce an excluded category. Category selections can also trigger a warning and adjustment of stale submitted scope totals to eligible capacity. These are distinct from unconstrained replication or ignoring a filter.</a:t>
            </a:r>
          </a:p>
          <a:p>
            <a:pPr lvl="0" indent="0" marL="0">
              <a:buNone/>
            </a:pPr>
          </a:p>
          <a:p>
            <a:pPr lvl="0" indent="0" marL="0">
              <a:buNone/>
            </a:pPr>
            <a:r>
              <a:rPr/>
              <a:t>ZERO REFERENCE. Zero REF activity with positive CF activity still needs people. HUB derives a person boundary from CF volume, with the geographic person pool as a fallback if a source rate is unavailable. Zero REF mode trips/users do not mean an empty geographic donor population.</a:t>
            </a:r>
          </a:p>
          <a:p>
            <a:pPr lvl="0" indent="0" marL="0">
              <a:buNone/>
            </a:pPr>
          </a:p>
          <a:p>
            <a:pPr lvl="0" indent="0" marL="0">
              <a:buNone/>
            </a:pPr>
            <a:r>
              <a:rPr/>
              <a:t>Sources: README.md, Feasibility rules and sampling sources and What happens when a requested sample cannot be drawn; R/reference_data_apply_appraisal_scope.R; R/counterfactual_data_sampling_functions.R; R/counterfactual_data_apply_ui_values.R.</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Begin testing with a plausible scenario, then vary one input while keeping the others fixed. Check whether the population and trip tables remain understandable as you move through the app. Check that reference and intervention trip results reflect the intended scenario and any explicit refinements.</a:t>
            </a:r>
          </a:p>
          <a:p>
            <a:pPr lvl="0" indent="0" marL="0">
              <a:buNone/>
            </a:pPr>
          </a:p>
          <a:p>
            <a:pPr lvl="0" indent="0" marL="0">
              <a:buNone/>
            </a:pPr>
            <a:r>
              <a:rPr/>
              <a:t>HALYs means health-adjusted life-years: a measure combining length of life with health during those years. Distinguish life-years gained from deaths prevented; they answer different questions. Disease-case totals are counts of outcomes and do not necessarily count distinct people.</a:t>
            </a:r>
          </a:p>
          <a:p>
            <a:pPr lvl="0" indent="0" marL="0">
              <a:buNone/>
            </a:pPr>
          </a:p>
          <a:p>
            <a:pPr lvl="0" indent="0" marL="0">
              <a:buNone/>
            </a:pPr>
            <a:r>
              <a:rPr/>
              <a:t>The technical outcome difference is CF minus REF. For adverse outcomes, such as disease cases and deaths, a reduction is therefore negative. The app reverses the sign for ‘prevented’ results: REF minus CF, so benefits display as positive. For life-years and HALYs, gains use CF minus REF. Avoid describing all headline results as raw risk differences: they summarize expected events or years of life over the assessment period, with the configured population scaling.</a:t>
            </a:r>
          </a:p>
          <a:p>
            <a:pPr lvl="0" indent="0" marL="0">
              <a:buNone/>
            </a:pPr>
          </a:p>
          <a:p>
            <a:pPr lvl="0" indent="0" marL="0">
              <a:buNone/>
            </a:pPr>
            <a:r>
              <a:rPr/>
              <a:t>For feedback, record the data profile and geography, selected modes, input route, reference and counterfactual inputs, refinements, and the unexpected output. Include a screenshot or export where useful. Please flag apparently implausible outputs even when the app does not show an error.</a:t>
            </a:r>
          </a:p>
          <a:p>
            <a:pPr lvl="0" indent="0" marL="0">
              <a:buNone/>
            </a:pPr>
          </a:p>
          <a:p>
            <a:pPr lvl="0" indent="0" marL="0">
              <a:buNone/>
            </a:pPr>
            <a:r>
              <a:rPr/>
              <a:t>Sampling can introduce variation. Small effects and rounded headline values need careful interpretation. Outputs are conditional model estimates and do not themselves quantify all sources of uncertainty.</a:t>
            </a:r>
          </a:p>
          <a:p>
            <a:pPr lvl="0" indent="0" marL="0">
              <a:buNone/>
            </a:pPr>
          </a:p>
          <a:p>
            <a:pPr lvl="0" indent="0" marL="0">
              <a:buNone/>
            </a:pPr>
            <a:r>
              <a:rPr/>
              <a:t>Sources: R/results_data_prepare.R; README.md, Tab 5: Present and export results; docs/methodology.qmd, Validation, uncertainty, and remaining work.</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User counts are the provided quantity. Source patterns supply initial trip estimates. Tab 3 establishes the final person targets, and Tab 4 can adjust the trips assigned to those people.</a:t>
            </a:r>
          </a:p>
          <a:p>
            <a:pPr lvl="0" indent="0" marL="0">
              <a:buNone/>
            </a:pPr>
          </a:p>
          <a:p>
            <a:pPr lvl="0" indent="0" marL="0">
              <a:buNone/>
            </a:pPr>
            <a:r>
              <a:rPr/>
              <a:t>Full-resolution diagram: User-count route. Open the original PNG and zoom for detailed discussion. Source: docs/ui_data_authority_workflow_diagrams.qmd.</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Trip counts are the provided quantity. The app estimates the people needed to represent that travel. Population refinements preserve the trip targets until an explicit Tab 4 edit. Changed user counts therefore change trips per user.</a:t>
            </a:r>
          </a:p>
          <a:p>
            <a:pPr lvl="0" indent="0" marL="0">
              <a:buNone/>
            </a:pPr>
          </a:p>
          <a:p>
            <a:pPr lvl="0" indent="0" marL="0">
              <a:buNone/>
            </a:pPr>
            <a:r>
              <a:rPr/>
              <a:t>Full-resolution diagram: Trip-count route. Source: docs/ui_data_authority_workflow_diagrams.qmd.</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app converts supplied distance or duration into estimated trip counts using source means per trip, then derives person equivalents. Realized totals reflect sampled trip patterns; these are not guaranteed to reproduce an exact aggregate distance or duration. A later explicit Tab 4 trip count supersedes the derived trip count.</a:t>
            </a:r>
          </a:p>
          <a:p>
            <a:pPr lvl="0" indent="0" marL="0">
              <a:buNone/>
            </a:pPr>
          </a:p>
          <a:p>
            <a:pPr lvl="0" indent="0" marL="0">
              <a:buNone/>
            </a:pPr>
            <a:r>
              <a:rPr/>
              <a:t>Full-resolution diagram: Distance/duration route. Source: docs/ui_data_authority_workflow_diagrams.qmd.</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app combines mode shares with the supplied or suggested denominator to derive per-mode trip targets. Shares alone do not define population size. Later explicit trip edits can change the realized shares.</a:t>
            </a:r>
          </a:p>
          <a:p>
            <a:pPr lvl="0" indent="0" marL="0">
              <a:buNone/>
            </a:pPr>
          </a:p>
          <a:p>
            <a:pPr lvl="0" indent="0" marL="0">
              <a:buNone/>
            </a:pPr>
            <a:r>
              <a:rPr/>
              <a:t>Full-resolution diagram: Mode-share route. Source: docs/ui_data_authority_workflow_diagrams.qmd.</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Trace how accepted population counts pass to trip allocation and final results. The aim is a forward sequence: later trip refinements do not recalculate the accepted person counts. Filters and sampling weights refine allocation within this sequence.</a:t>
            </a:r>
          </a:p>
          <a:p>
            <a:pPr lvl="0" indent="0" marL="0">
              <a:buNone/>
            </a:pPr>
          </a:p>
          <a:p>
            <a:pPr lvl="0" indent="0" marL="0">
              <a:buNone/>
            </a:pPr>
            <a:r>
              <a:rPr/>
              <a:t>Full-resolution diagram: Tab 3 to results. Source: docs/ui_data_authority_workflow_diagrams.qmd.</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Use this as an orientation map, not a diagram to read box by box when projected. The preceding route-specific backups are easier to discuss. The complete workflow connects source data, all four Tab 2 routes, population and trip refinements, sampling, and health results.</a:t>
            </a:r>
          </a:p>
          <a:p>
            <a:pPr lvl="0" indent="0" marL="0">
              <a:buNone/>
            </a:pPr>
          </a:p>
          <a:p>
            <a:pPr lvl="0" indent="0" marL="0">
              <a:buNone/>
            </a:pPr>
            <a:r>
              <a:rPr/>
              <a:t>Full-resolution diagram: Complete workflow. Source: docs/ui_data_authority_workflow_diagrams.qmd. The diagrams describe the intended data-authority workflow; use the sampling slide and its notes for current fallback details and implementation nuances.</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 Id="rId3" Type="http://schemas.openxmlformats.org/officeDocument/2006/relationships/image" Target="../media/image1.png"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 Id="rId3" Type="http://schemas.openxmlformats.org/officeDocument/2006/relationships/image" Target="../media/image2.png"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 Id="rId3" Type="http://schemas.openxmlformats.org/officeDocument/2006/relationships/image" Target="../media/image3.png"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 Id="rId3" Type="http://schemas.openxmlformats.org/officeDocument/2006/relationships/image" Target="../media/image4.png"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 Id="rId3" Type="http://schemas.openxmlformats.org/officeDocument/2006/relationships/image" Target="../media/image5.png"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 Id="rId3" Type="http://schemas.openxmlformats.org/officeDocument/2006/relationships/image" Target="../media/image6.png"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 Id="rId3" Type="http://schemas.openxmlformats.org/officeDocument/2006/relationships/image" Target="../media/image7.png"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Tab 1: the source population</a:t>
            </a:r>
          </a:p>
        </p:txBody>
      </p:sp>
      <p:sp>
        <p:nvSpPr>
          <p:cNvPr id="3" name="Content Placeholder 2"/>
          <p:cNvSpPr>
            <a:spLocks noGrp="1"/>
          </p:cNvSpPr>
          <p:nvPr>
            <p:ph idx="1"/>
          </p:nvPr>
        </p:nvSpPr>
        <p:spPr/>
        <p:txBody>
          <a:bodyPr/>
          <a:lstStyle/>
          <a:p>
            <a:pPr lvl="0" indent="0" marL="0">
              <a:buNone/>
            </a:pPr>
            <a:r>
              <a:rPr b="1"/>
              <a:t>An appraisal starts with a place.</a:t>
            </a:r>
          </a:p>
          <a:p>
            <a:pPr lvl="0"/>
            <a:r>
              <a:rPr/>
              <a:t>Select a Local Authority District (LAD), such as Leeds.</a:t>
            </a:r>
          </a:p>
          <a:p>
            <a:pPr lvl="0"/>
            <a:r>
              <a:rPr/>
              <a:t>The app draws on a synthetic population: people with linked travel and physical-activity information.</a:t>
            </a:r>
          </a:p>
          <a:p>
            <a:pPr lvl="0"/>
            <a:r>
              <a:rPr/>
              <a:t>Local patterns provide starting values for your appraisal.</a:t>
            </a:r>
          </a:p>
          <a:p>
            <a:pPr lvl="0"/>
            <a:r>
              <a:rPr/>
              <a:t>Your assessed population can be smaller than the whole district.</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Tab 2: active-travel volume</a:t>
            </a:r>
          </a:p>
        </p:txBody>
      </p:sp>
      <p:sp>
        <p:nvSpPr>
          <p:cNvPr id="3" name="Content Placeholder 2"/>
          <p:cNvSpPr>
            <a:spLocks noGrp="1"/>
          </p:cNvSpPr>
          <p:nvPr>
            <p:ph idx="1"/>
          </p:nvPr>
        </p:nvSpPr>
        <p:spPr/>
        <p:txBody>
          <a:bodyPr/>
          <a:lstStyle/>
          <a:p>
            <a:pPr lvl="0" indent="0" marL="0">
              <a:buNone/>
            </a:pPr>
            <a:r>
              <a:rPr b="1"/>
              <a:t>Describe travel in the reference and intervention scenarios.</a:t>
            </a:r>
          </a:p>
          <a:p>
            <a:pPr lvl="0" indent="-342900" marL="342900">
              <a:buAutoNum type="arabicPeriod"/>
            </a:pPr>
            <a:r>
              <a:rPr b="1"/>
              <a:t>Users:</a:t>
            </a:r>
            <a:r>
              <a:rPr/>
              <a:t> number of people using each mode.</a:t>
            </a:r>
          </a:p>
          <a:p>
            <a:pPr lvl="0" indent="-342900" marL="342900">
              <a:buAutoNum type="arabicPeriod"/>
            </a:pPr>
            <a:r>
              <a:rPr b="1"/>
              <a:t>Trips:</a:t>
            </a:r>
            <a:r>
              <a:rPr/>
              <a:t> number of trips, with a timeframe.</a:t>
            </a:r>
          </a:p>
          <a:p>
            <a:pPr lvl="0" indent="-342900" marL="342900">
              <a:buAutoNum type="arabicPeriod"/>
            </a:pPr>
            <a:r>
              <a:rPr b="1"/>
              <a:t>Distance or duration:</a:t>
            </a:r>
            <a:r>
              <a:rPr/>
              <a:t> travel distance or time.</a:t>
            </a:r>
          </a:p>
          <a:p>
            <a:pPr lvl="0" indent="-342900" marL="342900">
              <a:buAutoNum type="arabicPeriod"/>
            </a:pPr>
            <a:r>
              <a:rPr b="1"/>
              <a:t>Mode shares:</a:t>
            </a:r>
            <a:r>
              <a:rPr/>
              <a:t> percentages, with a total travel amount.</a:t>
            </a:r>
          </a:p>
          <a:p>
            <a:pPr lvl="0" indent="0" marL="0">
              <a:buNone/>
            </a:pPr>
            <a:r>
              <a:rPr/>
              <a:t>Initial values come from the source population. Edit these to describe your scheme.</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Tab 3: the assessed population</a:t>
            </a:r>
          </a:p>
        </p:txBody>
      </p:sp>
      <p:sp>
        <p:nvSpPr>
          <p:cNvPr id="3" name="Content Placeholder 2"/>
          <p:cNvSpPr>
            <a:spLocks noGrp="1"/>
          </p:cNvSpPr>
          <p:nvPr>
            <p:ph idx="1"/>
          </p:nvPr>
        </p:nvSpPr>
        <p:spPr/>
        <p:txBody>
          <a:bodyPr/>
          <a:lstStyle/>
          <a:p>
            <a:pPr lvl="0" indent="0" marL="0">
              <a:buNone/>
            </a:pPr>
            <a:r>
              <a:rPr b="1"/>
              <a:t>First set the scope, then refine the distribution.</a:t>
            </a:r>
          </a:p>
          <a:p>
            <a:pPr lvl="0"/>
            <a:r>
              <a:rPr b="1"/>
              <a:t>Scope:</a:t>
            </a:r>
            <a:r>
              <a:rPr/>
              <a:t> adjust REF and CF counts and eligible population categories.</a:t>
            </a:r>
          </a:p>
          <a:p>
            <a:pPr lvl="0"/>
            <a:r>
              <a:rPr b="1"/>
              <a:t>Distribution:</a:t>
            </a:r>
            <a:r>
              <a:rPr/>
              <a:t> refine age, sex and physical-activity patterns.</a:t>
            </a:r>
          </a:p>
          <a:p>
            <a:pPr lvl="0"/>
            <a:r>
              <a:rPr/>
              <a:t>Scope supplies count targets and filter criteria.</a:t>
            </a:r>
          </a:p>
          <a:p>
            <a:pPr lvl="0"/>
            <a:r>
              <a:rPr/>
              <a:t>Sampling weights favour particular people within the eligible pool.</a:t>
            </a:r>
          </a:p>
          <a:p>
            <a:pPr lvl="0" indent="0" marL="0">
              <a:buNone/>
            </a:pPr>
            <a:r>
              <a:rPr/>
              <a:t>Starting values come from Tab 2.</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Tab 4: trips and physical activity</a:t>
            </a:r>
          </a:p>
        </p:txBody>
      </p:sp>
      <p:sp>
        <p:nvSpPr>
          <p:cNvPr id="3" name="Content Placeholder 2"/>
          <p:cNvSpPr>
            <a:spLocks noGrp="1"/>
          </p:cNvSpPr>
          <p:nvPr>
            <p:ph idx="1"/>
          </p:nvPr>
        </p:nvSpPr>
        <p:spPr/>
        <p:txBody>
          <a:bodyPr/>
          <a:lstStyle/>
          <a:p>
            <a:pPr lvl="0" indent="0" marL="0">
              <a:buNone/>
            </a:pPr>
            <a:r>
              <a:rPr b="1"/>
              <a:t>First set trip scope, then refine trip patterns.</a:t>
            </a:r>
          </a:p>
          <a:p>
            <a:pPr lvl="0"/>
            <a:r>
              <a:rPr b="1"/>
              <a:t>Scope:</a:t>
            </a:r>
            <a:r>
              <a:rPr/>
              <a:t> adjust REF and CF trip totals. Keep population fixed.</a:t>
            </a:r>
          </a:p>
          <a:p>
            <a:pPr lvl="0"/>
            <a:r>
              <a:rPr b="1"/>
              <a:t>Distribution:</a:t>
            </a:r>
            <a:r>
              <a:rPr/>
              <a:t> refine distances and source modes for shifts.</a:t>
            </a:r>
          </a:p>
          <a:p>
            <a:pPr lvl="0"/>
            <a:r>
              <a:rPr/>
              <a:t>Scope supplies counts and filters. Distributions guide weights.</a:t>
            </a:r>
          </a:p>
          <a:p>
            <a:pPr lvl="0"/>
            <a:r>
              <a:rPr/>
              <a:t>Separately, specify the share of newly induced trips.</a:t>
            </a:r>
          </a:p>
          <a:p>
            <a:pPr lvl="0" indent="0" marL="0">
              <a:buNone/>
            </a:pPr>
            <a:r>
              <a:rPr/>
              <a:t>Changed travel time changes physical activity.</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Source population, REF and CF</a:t>
            </a:r>
          </a:p>
        </p:txBody>
      </p:sp>
      <p:pic>
        <p:nvPicPr>
          <p:cNvPr descr="source_ref_cf_diagram.png" id="0" name="Picture 1"/>
          <p:cNvPicPr>
            <a:picLocks noGrp="1" noChangeAspect="1"/>
          </p:cNvPicPr>
          <p:nvPr/>
        </p:nvPicPr>
        <p:blipFill>
          <a:blip r:embed="rId3"/>
          <a:stretch>
            <a:fillRect/>
          </a:stretch>
        </p:blipFill>
        <p:spPr bwMode="auto">
          <a:xfrm>
            <a:off x="1181100" y="1193800"/>
            <a:ext cx="6781800" cy="3390900"/>
          </a:xfrm>
          <a:prstGeom prst="rect">
            <a:avLst/>
          </a:prstGeom>
          <a:noFill/>
          <a:ln w="9525">
            <a:noFill/>
            <a:headEnd/>
            <a:tailEnd/>
          </a:ln>
        </p:spPr>
      </p:pic>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Sampling: priorities and fallbacks</a:t>
            </a:r>
          </a:p>
        </p:txBody>
      </p:sp>
      <p:sp>
        <p:nvSpPr>
          <p:cNvPr id="3" name="Content Placeholder 2"/>
          <p:cNvSpPr>
            <a:spLocks noGrp="1"/>
          </p:cNvSpPr>
          <p:nvPr>
            <p:ph idx="1"/>
          </p:nvPr>
        </p:nvSpPr>
        <p:spPr/>
        <p:txBody>
          <a:bodyPr/>
          <a:lstStyle/>
          <a:p>
            <a:pPr lvl="0" indent="0" marL="0">
              <a:buNone/>
            </a:pPr>
            <a:r>
              <a:rPr b="1"/>
              <a:t>CF starts from REF. The requested difference drives sampling.</a:t>
            </a:r>
          </a:p>
          <a:p>
            <a:pPr lvl="0"/>
            <a:r>
              <a:rPr b="1"/>
              <a:t>Priority:</a:t>
            </a:r>
            <a:r>
              <a:rPr/>
              <a:t> explicit counts prevail. Tab 4 preserves Tab 3 people.</a:t>
            </a:r>
          </a:p>
          <a:p>
            <a:pPr lvl="0"/>
            <a:r>
              <a:rPr b="1"/>
              <a:t>People:</a:t>
            </a:r>
            <a:r>
              <a:rPr/>
              <a:t> eligible REF non-users first, then the wider source.</a:t>
            </a:r>
          </a:p>
          <a:p>
            <a:pPr lvl="0"/>
            <a:r>
              <a:rPr b="1"/>
              <a:t>Trips:</a:t>
            </a:r>
            <a:r>
              <a:rPr/>
              <a:t> shifts plus induced trips. Each trip can shift once.</a:t>
            </a:r>
          </a:p>
          <a:p>
            <a:pPr lvl="0"/>
            <a:r>
              <a:rPr b="1"/>
              <a:t>Fallbacks:</a:t>
            </a:r>
            <a:r>
              <a:rPr/>
              <a:t> relax weights, reuse trip patterns, or add induced trips when shifts fall short.</a:t>
            </a:r>
          </a:p>
          <a:p>
            <a:pPr lvl="0" indent="0" marL="0">
              <a:buNone/>
            </a:pPr>
            <a:r>
              <a:rPr/>
              <a:t>Filters remain binding. Too few eligible people requires a revised request.</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Tab 5: health impacts</a:t>
            </a:r>
          </a:p>
        </p:txBody>
      </p:sp>
      <p:sp>
        <p:nvSpPr>
          <p:cNvPr id="3" name="Content Placeholder 2"/>
          <p:cNvSpPr>
            <a:spLocks noGrp="1"/>
          </p:cNvSpPr>
          <p:nvPr>
            <p:ph idx="1"/>
          </p:nvPr>
        </p:nvSpPr>
        <p:spPr/>
        <p:txBody>
          <a:bodyPr/>
          <a:lstStyle/>
          <a:p>
            <a:pPr lvl="0" indent="0" marL="0">
              <a:buNone/>
            </a:pPr>
            <a:r>
              <a:rPr b="1"/>
              <a:t>Activity changes affect modelled health outcomes.</a:t>
            </a:r>
          </a:p>
          <a:p>
            <a:pPr lvl="0"/>
            <a:r>
              <a:rPr/>
              <a:t>Calculate the outcome difference: </a:t>
            </a:r>
            <a:r>
              <a:rPr b="1"/>
              <a:t>CF minus REF</a:t>
            </a:r>
            <a:r>
              <a:rPr/>
              <a:t>.</a:t>
            </a:r>
          </a:p>
          <a:p>
            <a:pPr lvl="0"/>
            <a:r>
              <a:rPr/>
              <a:t>Lower disease and mortality outcomes indicate a benefit.</a:t>
            </a:r>
          </a:p>
          <a:p>
            <a:pPr lvl="0"/>
            <a:r>
              <a:rPr/>
              <a:t>Report prevented deaths and disease cases, life-years gained and health-adjusted life-years (HALYs).</a:t>
            </a:r>
          </a:p>
          <a:p>
            <a:pPr lvl="0"/>
            <a:r>
              <a:rPr/>
              <a:t>Inspect plots and exports over the assessment period.</a:t>
            </a:r>
          </a:p>
          <a:p>
            <a:pPr lvl="0" indent="0" marL="0">
              <a:buNone/>
            </a:pPr>
            <a:r>
              <a:rPr/>
              <a:t>Results depend on the input estimates, source data and modelling assumptions.</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Backup: user-count inputs</a:t>
            </a:r>
          </a:p>
        </p:txBody>
      </p:sp>
      <p:pic>
        <p:nvPicPr>
          <p:cNvPr descr="ui_data_authority_workflow_png/01-user-count-route.png" id="0" name="Picture 1"/>
          <p:cNvPicPr>
            <a:picLocks noGrp="1" noChangeAspect="1"/>
          </p:cNvPicPr>
          <p:nvPr/>
        </p:nvPicPr>
        <p:blipFill>
          <a:blip r:embed="rId3"/>
          <a:stretch>
            <a:fillRect/>
          </a:stretch>
        </p:blipFill>
        <p:spPr bwMode="auto">
          <a:xfrm>
            <a:off x="4152900" y="1193800"/>
            <a:ext cx="850900" cy="3390900"/>
          </a:xfrm>
          <a:prstGeom prst="rect">
            <a:avLst/>
          </a:prstGeom>
          <a:noFill/>
          <a:ln w="9525">
            <a:noFill/>
            <a:headEnd/>
            <a:tailEnd/>
          </a:ln>
        </p:spPr>
      </p:pic>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Backup: trip-count inputs</a:t>
            </a:r>
          </a:p>
        </p:txBody>
      </p:sp>
      <p:pic>
        <p:nvPicPr>
          <p:cNvPr descr="ui_data_authority_workflow_png/02-trip-count-route.png" id="0" name="Picture 1"/>
          <p:cNvPicPr>
            <a:picLocks noGrp="1" noChangeAspect="1"/>
          </p:cNvPicPr>
          <p:nvPr/>
        </p:nvPicPr>
        <p:blipFill>
          <a:blip r:embed="rId3"/>
          <a:stretch>
            <a:fillRect/>
          </a:stretch>
        </p:blipFill>
        <p:spPr bwMode="auto">
          <a:xfrm>
            <a:off x="3784600" y="1193800"/>
            <a:ext cx="1562100" cy="3390900"/>
          </a:xfrm>
          <a:prstGeom prst="rect">
            <a:avLst/>
          </a:prstGeom>
          <a:noFill/>
          <a:ln w="9525">
            <a:noFill/>
            <a:headEnd/>
            <a:tailEnd/>
          </a:ln>
        </p:spPr>
      </p:pic>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Backup: distance or duration inputs</a:t>
            </a:r>
          </a:p>
        </p:txBody>
      </p:sp>
      <p:pic>
        <p:nvPicPr>
          <p:cNvPr descr="ui_data_authority_workflow_png/03-distance-duration-route.png" id="0" name="Picture 1"/>
          <p:cNvPicPr>
            <a:picLocks noGrp="1" noChangeAspect="1"/>
          </p:cNvPicPr>
          <p:nvPr/>
        </p:nvPicPr>
        <p:blipFill>
          <a:blip r:embed="rId3"/>
          <a:stretch>
            <a:fillRect/>
          </a:stretch>
        </p:blipFill>
        <p:spPr bwMode="auto">
          <a:xfrm>
            <a:off x="3543300" y="1193800"/>
            <a:ext cx="2070100" cy="3390900"/>
          </a:xfrm>
          <a:prstGeom prst="rect">
            <a:avLst/>
          </a:prstGeom>
          <a:noFill/>
          <a:ln w="9525">
            <a:noFill/>
            <a:headEnd/>
            <a:tailEnd/>
          </a:ln>
        </p:spPr>
      </p:pic>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Backup: mode-share inputs</a:t>
            </a:r>
          </a:p>
        </p:txBody>
      </p:sp>
      <p:pic>
        <p:nvPicPr>
          <p:cNvPr descr="ui_data_authority_workflow_png/04-mode-share-route.png" id="0" name="Picture 1"/>
          <p:cNvPicPr>
            <a:picLocks noGrp="1" noChangeAspect="1"/>
          </p:cNvPicPr>
          <p:nvPr/>
        </p:nvPicPr>
        <p:blipFill>
          <a:blip r:embed="rId3"/>
          <a:stretch>
            <a:fillRect/>
          </a:stretch>
        </p:blipFill>
        <p:spPr bwMode="auto">
          <a:xfrm>
            <a:off x="3606800" y="1193800"/>
            <a:ext cx="1930400" cy="3390900"/>
          </a:xfrm>
          <a:prstGeom prst="rect">
            <a:avLst/>
          </a:prstGeom>
          <a:noFill/>
          <a:ln w="9525">
            <a:noFill/>
            <a:headEnd/>
            <a:tailEnd/>
          </a:ln>
        </p:spPr>
      </p:pic>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Backup: population-to-results handoff</a:t>
            </a:r>
          </a:p>
        </p:txBody>
      </p:sp>
      <p:pic>
        <p:nvPicPr>
          <p:cNvPr descr="ui_data_authority_workflow_png/05-tab3-to-results-handoff.png" id="0" name="Picture 1"/>
          <p:cNvPicPr>
            <a:picLocks noGrp="1" noChangeAspect="1"/>
          </p:cNvPicPr>
          <p:nvPr/>
        </p:nvPicPr>
        <p:blipFill>
          <a:blip r:embed="rId3"/>
          <a:stretch>
            <a:fillRect/>
          </a:stretch>
        </p:blipFill>
        <p:spPr bwMode="auto">
          <a:xfrm>
            <a:off x="3759200" y="1193800"/>
            <a:ext cx="1638300" cy="3390900"/>
          </a:xfrm>
          <a:prstGeom prst="rect">
            <a:avLst/>
          </a:prstGeom>
          <a:noFill/>
          <a:ln w="9525">
            <a:noFill/>
            <a:headEnd/>
            <a:tailEnd/>
          </a:ln>
        </p:spPr>
      </p:pic>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Backup: complete workflow</a:t>
            </a:r>
          </a:p>
        </p:txBody>
      </p:sp>
      <p:pic>
        <p:nvPicPr>
          <p:cNvPr descr="ui_data_authority_workflow_png/06-comprehensive-workflow.png" id="0" name="Picture 1"/>
          <p:cNvPicPr>
            <a:picLocks noGrp="1" noChangeAspect="1"/>
          </p:cNvPicPr>
          <p:nvPr/>
        </p:nvPicPr>
        <p:blipFill>
          <a:blip r:embed="rId3"/>
          <a:stretch>
            <a:fillRect/>
          </a:stretch>
        </p:blipFill>
        <p:spPr bwMode="auto">
          <a:xfrm>
            <a:off x="3683000" y="1193800"/>
            <a:ext cx="1790700" cy="3390900"/>
          </a:xfrm>
          <a:prstGeom prst="rect">
            <a:avLst/>
          </a:prstGeom>
          <a:noFill/>
          <a:ln w="9525">
            <a:noFill/>
            <a:headEnd/>
            <a:tailEnd/>
          </a:ln>
        </p:spPr>
      </p:pic>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2026-09-05T01:11:07Z</dcterms:created>
  <dcterms:modified xsi:type="dcterms:W3CDTF">2026-09-05T01:11:07Z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biblio-config">
    <vt:lpwstr>True</vt:lpwstr>
  </property>
  <property fmtid="{D5CDD505-2E9C-101B-9397-08002B2CF9AE}" pid="3" name="header-includes">
    <vt:lpwstr/>
  </property>
  <property fmtid="{D5CDD505-2E9C-101B-9397-08002B2CF9AE}" pid="4" name="include-after">
    <vt:lpwstr/>
  </property>
  <property fmtid="{D5CDD505-2E9C-101B-9397-08002B2CF9AE}" pid="5" name="include-before">
    <vt:lpwstr/>
  </property>
  <property fmtid="{D5CDD505-2E9C-101B-9397-08002B2CF9AE}" pid="6" name="labels">
    <vt:lpwstr/>
  </property>
  <property fmtid="{D5CDD505-2E9C-101B-9397-08002B2CF9AE}" pid="7" name="toc-title">
    <vt:lpwstr>Table of contents</vt:lpwstr>
  </property>
</Properties>
</file>